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490bf3480db4b2a" /><Relationship Type="http://schemas.openxmlformats.org/officeDocument/2006/relationships/extended-properties" Target="/docProps/app.xml" Id="Ra40ad3cf689c4ab4" /><Relationship Type="http://schemas.openxmlformats.org/officeDocument/2006/relationships/officeDocument" Target="/ppt/presentation.xml" Id="R05fcfbff85d34f7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0962893a3c54f40"/>
  </p:sldMasterIdLst>
  <p:notesMasterIdLst>
    <p:notesMasterId xmlns:r="http://schemas.openxmlformats.org/officeDocument/2006/relationships" r:id="Redce3b3a15454cc8"/>
  </p:notesMasterIdLst>
  <p:sldIdLst>
    <p:sldId xmlns:r="http://schemas.openxmlformats.org/officeDocument/2006/relationships" id="256" r:id="R796473eaf9f840a6"/>
    <p:sldId xmlns:r="http://schemas.openxmlformats.org/officeDocument/2006/relationships" id="257" r:id="R5896b5f9e3e34b2e"/>
    <p:sldId xmlns:r="http://schemas.openxmlformats.org/officeDocument/2006/relationships" id="258" r:id="Ra966a312fea64a6e"/>
    <p:sldId xmlns:r="http://schemas.openxmlformats.org/officeDocument/2006/relationships" id="259" r:id="Redbe1b25e88a45ac"/>
    <p:sldId xmlns:r="http://schemas.openxmlformats.org/officeDocument/2006/relationships" id="260" r:id="R1499954c37ed4037"/>
    <p:sldId xmlns:r="http://schemas.openxmlformats.org/officeDocument/2006/relationships" id="261" r:id="R7689921d88e94167"/>
    <p:sldId xmlns:r="http://schemas.openxmlformats.org/officeDocument/2006/relationships" id="262" r:id="Rf77d6fb5a0c046be"/>
    <p:sldId xmlns:r="http://schemas.openxmlformats.org/officeDocument/2006/relationships" id="263" r:id="R44f44b71f25e4a0e"/>
    <p:sldId xmlns:r="http://schemas.openxmlformats.org/officeDocument/2006/relationships" id="264" r:id="Re83bbbd5517249b7"/>
    <p:sldId xmlns:r="http://schemas.openxmlformats.org/officeDocument/2006/relationships" id="265" r:id="R243cd26b10364aec"/>
    <p:sldId xmlns:r="http://schemas.openxmlformats.org/officeDocument/2006/relationships" id="266" r:id="R6645fb7c60ba499e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110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220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329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439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5549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2658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199765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6877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9f0543909a64533" /><Relationship Type="http://schemas.openxmlformats.org/officeDocument/2006/relationships/slideMaster" Target="/ppt/slideMasters/slideMaster1.xml" Id="Rb0962893a3c54f40" /><Relationship Type="http://schemas.openxmlformats.org/officeDocument/2006/relationships/notesMaster" Target="/ppt/notesMasters/notesMaster1.xml" Id="Redce3b3a15454cc8" /><Relationship Type="http://schemas.openxmlformats.org/officeDocument/2006/relationships/presProps" Target="/ppt/presProps.xml" Id="R4df6b374025f4501" /><Relationship Type="http://schemas.openxmlformats.org/officeDocument/2006/relationships/viewProps" Target="/ppt/viewProps.xml" Id="R073b84b3933a4d67" /><Relationship Type="http://schemas.openxmlformats.org/officeDocument/2006/relationships/tableStyles" Target="/ppt/tableStyles.xml" Id="Rbca8553e80b94776" /><Relationship Type="http://schemas.openxmlformats.org/officeDocument/2006/relationships/slide" Target="/ppt/slides/slide1.xml" Id="R796473eaf9f840a6" /><Relationship Type="http://schemas.openxmlformats.org/officeDocument/2006/relationships/slide" Target="/ppt/slides/slide2.xml" Id="R5896b5f9e3e34b2e" /><Relationship Type="http://schemas.openxmlformats.org/officeDocument/2006/relationships/slide" Target="/ppt/slides/slide3.xml" Id="Ra966a312fea64a6e" /><Relationship Type="http://schemas.openxmlformats.org/officeDocument/2006/relationships/slide" Target="/ppt/slides/slide4.xml" Id="Redbe1b25e88a45ac" /><Relationship Type="http://schemas.openxmlformats.org/officeDocument/2006/relationships/slide" Target="/ppt/slides/slide5.xml" Id="R1499954c37ed4037" /><Relationship Type="http://schemas.openxmlformats.org/officeDocument/2006/relationships/slide" Target="/ppt/slides/slide6.xml" Id="R7689921d88e94167" /><Relationship Type="http://schemas.openxmlformats.org/officeDocument/2006/relationships/slide" Target="/ppt/slides/slide7.xml" Id="Rf77d6fb5a0c046be" /><Relationship Type="http://schemas.openxmlformats.org/officeDocument/2006/relationships/slide" Target="/ppt/slides/slide8.xml" Id="R44f44b71f25e4a0e" /><Relationship Type="http://schemas.openxmlformats.org/officeDocument/2006/relationships/slide" Target="/ppt/slides/slide9.xml" Id="Re83bbbd5517249b7" /><Relationship Type="http://schemas.openxmlformats.org/officeDocument/2006/relationships/slide" Target="/ppt/slides/slide10.xml" Id="R243cd26b10364aec" /><Relationship Type="http://schemas.openxmlformats.org/officeDocument/2006/relationships/slide" Target="/ppt/slides/slide11.xml" Id="R6645fb7c60ba499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08d878e34b3429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Пользовательские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b3982421d03464c" /><Relationship Type="http://schemas.openxmlformats.org/officeDocument/2006/relationships/notesMaster" Target="/ppt/notesMasters/notesMaster1.xml" Id="R92f3b51ce1a545f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2f10e665e3141f6" /><Relationship Type="http://schemas.openxmlformats.org/officeDocument/2006/relationships/notesMaster" Target="/ppt/notesMasters/notesMaster1.xml" Id="R045120fc4bac495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868d760054e42df" /><Relationship Type="http://schemas.openxmlformats.org/officeDocument/2006/relationships/notesMaster" Target="/ppt/notesMasters/notesMaster1.xml" Id="R788b491a68b044a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b4b2f948b2540ae" /><Relationship Type="http://schemas.openxmlformats.org/officeDocument/2006/relationships/notesMaster" Target="/ppt/notesMasters/notesMaster1.xml" Id="Red9a4874b01c46b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f23da09f3f84fc0" /><Relationship Type="http://schemas.openxmlformats.org/officeDocument/2006/relationships/notesMaster" Target="/ppt/notesMasters/notesMaster1.xml" Id="R4aeda28108a6452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a8cb532ef864d66" /><Relationship Type="http://schemas.openxmlformats.org/officeDocument/2006/relationships/notesMaster" Target="/ppt/notesMasters/notesMaster1.xml" Id="R360957b1943445e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1718309dbd3442d" /><Relationship Type="http://schemas.openxmlformats.org/officeDocument/2006/relationships/notesMaster" Target="/ppt/notesMasters/notesMaster1.xml" Id="R59a398d08eca4de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43fb376dbc04bfe" /><Relationship Type="http://schemas.openxmlformats.org/officeDocument/2006/relationships/notesMaster" Target="/ppt/notesMasters/notesMaster1.xml" Id="Rcc5c0aa2f294494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1d77b8ea8944fc9" /><Relationship Type="http://schemas.openxmlformats.org/officeDocument/2006/relationships/notesMaster" Target="/ppt/notesMasters/notesMaster1.xml" Id="Rfa828827dfea49e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c01d82bfd3b407b" /><Relationship Type="http://schemas.openxmlformats.org/officeDocument/2006/relationships/notesMaster" Target="/ppt/notesMasters/notesMaster1.xml" Id="R4813ed82c750486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7e744c68ec8439e" /><Relationship Type="http://schemas.openxmlformats.org/officeDocument/2006/relationships/notesMaster" Target="/ppt/notesMasters/notesMaster1.xml" Id="R11900f6c343248f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Композиция первого слайда повторяет слайд 7 исходного шаблона: /home/mimih/Рабочий стол/хакатоны/Билайн/ЛЦТ2026 Шаблон презентации.pptx.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/home/mimih/Рабочий стол/хакатоны/Билайн/3. Билайн Бизнес (1).pdf, разделы 1, 2.4 и 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Скриншот работающего прототипа получен из /home/mimih/PycharmProjects/beeline/frontend. Возможности сверены с /home/mimih/Рабочий стол/хакатоны/Билайн/3. Билайн Бизнес (1).pdf, раздел 2.1.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/home/mimih/PycharmProjects/beeline/docs/accepted-model.md и /home/mimih/PycharmProjects/beeline/ARCHITECTURE.md.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метрик: /home/mimih/PycharmProjects/beeline/docs/experiment-results.md. H001, H002 и H005.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Сценарий соответствует /home/mimih/Рабочий стол/хакатоны/Билайн/3. Билайн Бизнес (1).pdf, раздел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Обязательный слайд 8 шаблона. Состав команды взят из git-истории репозитория. Контакты намеренно не публикуются.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Обязательный слайд состава команды. Сохранены исходные карточки шаблона; три лишние карточки удалены по правилу для команды из двух участников.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Обязательный слайд 10 шаблона. Источники: git log, /home/mimih/PycharmProjects/beeline/docs/experiment-results.md и /home/mimih/PycharmProjects/beeline/docs/ui-large-demo.md.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Обязательный слайд 11 шаблона. Источники: /home/mimih/PycharmProjects/beeline/ARCHITECTURE.md, README.md и /home/mimih/PycharmProjects/beeline/docs/accepted-model.md.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Композиция первого слайда повторяет слайд 7 исходного шаблона: /home/mimih/Рабочий стол/хакатоны/Билайн/ЛЦТ2026 Шаблон презентации.pptx.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08c1d2af4f4461" /><Relationship Type="http://schemas.openxmlformats.org/officeDocument/2006/relationships/image" Target="/ppt/media/image2.png" Id="Rcb8290b8162d47d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fc4d8b4e4b408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cad0b9774f4f5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12b7438abf416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eda4eddb654cc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d122258011462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2d126ad36e4ec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d5a4c21e884b4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7ce17eba03477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e8a6bd52024ba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a17f68343b475e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97a6228abe4efa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a84943c5da4bb2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17bf79abbe404a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faf9c98bd94238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94a501a3044f0e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5b6168d6bc4374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9f6f041f514fa4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a71654dc7043f0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f9369df026468a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d62013605a4ae2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bafb073f0b4f9a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1701ca9fc34d5d" /></Relationships>
</file>

<file path=ppt/slideLayouts/slideLayout1.xml><?xml version="1.0" encoding="utf-8"?>
<p:sldLayout xmlns:p="http://schemas.openxmlformats.org/presentationml/2006/main" preserve="1" userDrawn="1">
  <p:cSld name="Титульный слайд">
    <p:bg>
      <p:bgPr>
        <a:blipFill xmlns:a="http://schemas.openxmlformats.org/drawingml/2006/main" rotWithShape="1">
          <a:blip xmlns:r="http://schemas.openxmlformats.org/officeDocument/2006/relationships" r:embed="Rcb8290b8162d47dc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Рисунок 10">
            <a:extLst xmlns:a="http://schemas.openxmlformats.org/drawingml/2006/main"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792000" y="395288"/>
            <a:ext cx="5400000" cy="5400000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Иконка задачи</a:t>
            </a:r>
          </a:p>
        </p:txBody>
      </p:sp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0" y="4323440"/>
            <a:ext cx="8930641" cy="8270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>
            <a:lvl1pPr marL="0" indent="712788" algn="l">
              <a:buNone/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r>
              <a:t>НАЗВАНИЕ КОМАНДЫ</a:t>
            </a:r>
          </a:p>
        </p:txBody>
      </p:sp>
      <p:sp>
        <p:nvSpPr>
          <p:cNvPr id="42" name="Рисунок 41">
            <a:extLst xmlns:a="http://schemas.openxmlformats.org/drawingml/2006/main"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802640" y="2911980"/>
            <a:ext cx="3386773" cy="1082589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Логотип/логотипы постановщика задачи</a:t>
            </a: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0" y="5149851"/>
            <a:ext cx="8930641" cy="7571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712788">
              <a:buNone/>
              <a:defRPr sz="1800"/>
            </a:lvl1pPr>
          </a:lstStyle>
          <a:p xmlns:a="http://schemas.openxmlformats.org/drawingml/2006/main">
            <a:r>
              <a:rPr sz="1600" b="0"/>
              <a:t>Номер и название задачи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Рисунок 10">
            <a:extLst xmlns:a="http://schemas.openxmlformats.org/drawingml/2006/main"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894095" y="1044081"/>
            <a:ext cx="4962943" cy="2221824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Фото команды</a:t>
            </a:r>
          </a:p>
        </p:txBody>
      </p:sp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46075" y="395288"/>
            <a:ext cx="11244772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КОМАНДА «НАЗВАНИЕ»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67EB9651-F031-4963-AFE9-33BCC0E88757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45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46075" y="395288"/>
            <a:ext cx="11244772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КОМАНДА «НАЗВАНИЕ»</a:t>
            </a:r>
          </a:p>
        </p:txBody>
      </p:sp>
      <p:sp>
        <p:nvSpPr>
          <p:cNvPr id="4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xmlns:a="http://schemas.openxmlformats.org/drawingml/2006/main" noGrp="1"/>
          </p:cNvSpPr>
          <p:nvPr>
            <p:ph type="body" idx="27" hasCustomPrompt="1"/>
          </p:nvPr>
        </p:nvSpPr>
        <p:spPr>
          <a:xfrm xmlns:a="http://schemas.openxmlformats.org/drawingml/2006/main">
            <a:off x="806323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  <p:sp>
        <p:nvSpPr>
          <p:cNvPr id="4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3014568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  <p:sp>
        <p:nvSpPr>
          <p:cNvPr id="5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5191192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  <p:sp>
        <p:nvSpPr>
          <p:cNvPr id="5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xmlns:a="http://schemas.openxmlformats.org/drawingml/2006/main" noGrp="1"/>
          </p:cNvSpPr>
          <p:nvPr>
            <p:ph type="body" idx="37" hasCustomPrompt="1"/>
          </p:nvPr>
        </p:nvSpPr>
        <p:spPr>
          <a:xfrm xmlns:a="http://schemas.openxmlformats.org/drawingml/2006/main">
            <a:off x="7366644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  <p:sp>
        <p:nvSpPr>
          <p:cNvPr id="5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xmlns:a="http://schemas.openxmlformats.org/drawingml/2006/main" noGrp="1"/>
          </p:cNvSpPr>
          <p:nvPr>
            <p:ph type="body" idx="39" hasCustomPrompt="1"/>
          </p:nvPr>
        </p:nvSpPr>
        <p:spPr>
          <a:xfrm xmlns:a="http://schemas.openxmlformats.org/drawingml/2006/main">
            <a:off x="9542096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Дата 3">
            <a:extLst xmlns:a="http://schemas.openxmlformats.org/drawingml/2006/main"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1021F813-DBA1-42EC-A748-A9CC16659E6B}" type="datetime1">
              <a:t>14.09.2026</a:t>
            </a:fld>
            <a:endParaRPr/>
          </a:p>
        </p:txBody>
      </p:sp>
      <p:sp>
        <p:nvSpPr>
          <p:cNvPr id="10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8A502BD2-9512-4029-B654-E898F0583F0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1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15392" y="1016177"/>
            <a:ext cx="11561229" cy="51607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21" name="Дата 3">
            <a:extLst xmlns:a="http://schemas.openxmlformats.org/drawingml/2006/main"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7DE2642A-6018-4CC1-81AB-5FD8D2782D4F}" type="datetime1">
              <a:t>14.09.2026</a:t>
            </a:fld>
            <a:endParaRPr/>
          </a:p>
        </p:txBody>
      </p:sp>
      <p:sp>
        <p:nvSpPr>
          <p:cNvPr id="22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49E78A2F-D265-4D7D-BF63-75BF9ACF92A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23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4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15387" y="1016001"/>
            <a:ext cx="5704418" cy="518477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Объект 3">
            <a:extLst xmlns:a="http://schemas.openxmlformats.org/drawingml/2006/main"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6" y="1016001"/>
            <a:ext cx="5670473" cy="518477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14" name="Дата 3">
            <a:extLst xmlns:a="http://schemas.openxmlformats.org/drawingml/2006/main"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43014BBE-C503-4380-A869-5EE8294FE947}" type="datetime1">
              <a:t>14.09.2026</a:t>
            </a:fld>
            <a:endParaRPr/>
          </a:p>
        </p:txBody>
      </p:sp>
      <p:sp>
        <p:nvSpPr>
          <p:cNvPr id="1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4D73747B-1894-47A4-9E8B-797D1562EA7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7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D286EEAA-87D1-47A5-B9C0-E5BAD703F0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5386" y="1015427"/>
            <a:ext cx="5682193" cy="365125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4" name="Объект 3">
            <a:extLst xmlns:a="http://schemas.openxmlformats.org/drawingml/2006/main"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349334" y="1598615"/>
            <a:ext cx="5648250" cy="460216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DE6D3064-465D-4982-AF9F-41FF98FCBF9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5" y="1015427"/>
            <a:ext cx="5684841" cy="365125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6" name="Объект 5">
            <a:extLst xmlns:a="http://schemas.openxmlformats.org/drawingml/2006/main"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2" y="1598615"/>
            <a:ext cx="5670473" cy="460216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12" name="Дата 3">
            <a:extLst xmlns:a="http://schemas.openxmlformats.org/drawingml/2006/main"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0D568497-304A-497F-ADAE-97D3CF462C1C}" type="datetime1">
              <a:t>14.09.2026</a:t>
            </a:fld>
            <a:endParaRPr/>
          </a:p>
        </p:txBody>
      </p:sp>
      <p:sp>
        <p:nvSpPr>
          <p:cNvPr id="13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F2048DE5-D653-4BDE-8495-A22EF4A50A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4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5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9334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8.xml><?xml version="1.0" encoding="utf-8"?>
<p:sldLayout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92CB240C-04A3-49D4-83F9-87A9C6C414DC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34966" y="1015999"/>
            <a:ext cx="4437062" cy="121341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2400"/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94" y="1015999"/>
            <a:ext cx="6673847" cy="504952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773"/>
            </a:lvl1pPr>
            <a:lvl2pPr>
              <a:buNone/>
              <a:defRPr sz="1520"/>
            </a:lvl2pPr>
            <a:lvl3pPr>
              <a:buNone/>
              <a:defRPr sz="1266"/>
            </a:lvl3pPr>
            <a:lvl4pPr>
              <a:buNone/>
              <a:defRPr sz="1141"/>
            </a:lvl4pPr>
            <a:lvl5pPr>
              <a:buNone/>
              <a:defRPr sz="1141"/>
            </a:lvl5pPr>
            <a:lvl6pPr>
              <a:buNone/>
              <a:defRPr sz="1266"/>
            </a:lvl6pPr>
            <a:lvl7pPr>
              <a:buNone/>
              <a:defRPr sz="1266"/>
            </a:lvl7pPr>
            <a:lvl8pPr>
              <a:buNone/>
              <a:defRPr sz="1266"/>
            </a:lvl8pPr>
            <a:lvl9pPr>
              <a:buNone/>
              <a:defRPr sz="1266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23E8D86B-609C-423A-9220-D7DC81877B7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34966" y="2428239"/>
            <a:ext cx="4437062" cy="363728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8" name="Дата 3">
            <a:extLst xmlns:a="http://schemas.openxmlformats.org/drawingml/2006/main"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DE74468B-3512-454B-AB51-7AE95604D39E}" type="datetime1">
              <a:t>14.09.2026</a:t>
            </a:fld>
            <a:endParaRPr/>
          </a:p>
        </p:txBody>
      </p:sp>
      <p:sp>
        <p:nvSpPr>
          <p:cNvPr id="9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D1D906C7-232A-4192-A02B-35F76470023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0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4">
            <a:extLst xmlns:a="http://schemas.openxmlformats.org/drawingml/2006/main"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BAB2196-A440-4E25-B9FF-D0ADB01B1A15}" type="datetime1">
              <a:t>14.09.2026</a:t>
            </a:fld>
            <a:endParaRPr/>
          </a:p>
        </p:txBody>
      </p:sp>
      <p:sp>
        <p:nvSpPr>
          <p:cNvPr id="6" name="Нижний колонтитул 5">
            <a:extLst xmlns:a="http://schemas.openxmlformats.org/drawingml/2006/main">
              <a:ext uri="{FF2B5EF4-FFF2-40B4-BE49-F238E27FC236}">
                <a16:creationId xmlns:a16="http://schemas.microsoft.com/office/drawing/2014/main" id="{A5BFC209-E220-4DB1-9582-A06EDB70669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802640" y="3922529"/>
            <a:ext cx="5293359" cy="1654542"/>
          </a:xfrm>
        </p:spPr>
        <p:txBody>
          <a:bodyPr xmlns:a="http://schemas.openxmlformats.org/drawingml/2006/main" anchor="ctr"/>
          <a:lstStyle xmlns:a="http://schemas.openxmlformats.org/drawingml/2006/main">
            <a:lvl1pPr algn="l">
              <a:buNone/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8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C7BAE699-64F9-49EF-B784-2DEF2B221955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1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xmlns:a="http://schemas.openxmlformats.org/drawingml/2006/main" noGrp="1"/>
          </p:cNvSpPr>
          <p:nvPr>
            <p:ph type="body" idx="37" hasCustomPrompt="1"/>
          </p:nvPr>
        </p:nvSpPr>
        <p:spPr>
          <a:xfrm xmlns:a="http://schemas.openxmlformats.org/drawingml/2006/main">
            <a:off x="1873541" y="1222713"/>
            <a:ext cx="3866856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12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xmlns:a="http://schemas.openxmlformats.org/drawingml/2006/main" noGrp="1"/>
          </p:cNvSpPr>
          <p:nvPr>
            <p:ph type="body" idx="38" hasCustomPrompt="1"/>
          </p:nvPr>
        </p:nvSpPr>
        <p:spPr>
          <a:xfrm xmlns:a="http://schemas.openxmlformats.org/drawingml/2006/main">
            <a:off x="1873544" y="1790324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13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xmlns:a="http://schemas.openxmlformats.org/drawingml/2006/main" noGrp="1"/>
          </p:cNvSpPr>
          <p:nvPr>
            <p:ph type="body" idx="39" hasCustomPrompt="1"/>
          </p:nvPr>
        </p:nvSpPr>
        <p:spPr>
          <a:xfrm xmlns:a="http://schemas.openxmlformats.org/drawingml/2006/main">
            <a:off x="1854185" y="2826697"/>
            <a:ext cx="3866856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14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xmlns:a="http://schemas.openxmlformats.org/drawingml/2006/main" noGrp="1"/>
          </p:cNvSpPr>
          <p:nvPr>
            <p:ph type="body" idx="40" hasCustomPrompt="1"/>
          </p:nvPr>
        </p:nvSpPr>
        <p:spPr>
          <a:xfrm xmlns:a="http://schemas.openxmlformats.org/drawingml/2006/main">
            <a:off x="1854185" y="3374436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15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xmlns:a="http://schemas.openxmlformats.org/drawingml/2006/main" noGrp="1"/>
          </p:cNvSpPr>
          <p:nvPr>
            <p:ph type="body" idx="41" hasCustomPrompt="1"/>
          </p:nvPr>
        </p:nvSpPr>
        <p:spPr>
          <a:xfrm xmlns:a="http://schemas.openxmlformats.org/drawingml/2006/main">
            <a:off x="1854185" y="4410809"/>
            <a:ext cx="3866856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16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xmlns:a="http://schemas.openxmlformats.org/drawingml/2006/main" noGrp="1"/>
          </p:cNvSpPr>
          <p:nvPr>
            <p:ph type="body" idx="42" hasCustomPrompt="1"/>
          </p:nvPr>
        </p:nvSpPr>
        <p:spPr>
          <a:xfrm xmlns:a="http://schemas.openxmlformats.org/drawingml/2006/main">
            <a:off x="1854185" y="4958548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20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xmlns:a="http://schemas.openxmlformats.org/drawingml/2006/main" noGrp="1"/>
          </p:cNvSpPr>
          <p:nvPr>
            <p:ph type="body" idx="43" hasCustomPrompt="1"/>
          </p:nvPr>
        </p:nvSpPr>
        <p:spPr>
          <a:xfrm xmlns:a="http://schemas.openxmlformats.org/drawingml/2006/main">
            <a:off x="7546648" y="1222713"/>
            <a:ext cx="3866856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21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xmlns:a="http://schemas.openxmlformats.org/drawingml/2006/main" noGrp="1"/>
          </p:cNvSpPr>
          <p:nvPr>
            <p:ph type="body" idx="44" hasCustomPrompt="1"/>
          </p:nvPr>
        </p:nvSpPr>
        <p:spPr>
          <a:xfrm xmlns:a="http://schemas.openxmlformats.org/drawingml/2006/main">
            <a:off x="7546651" y="1790324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22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xmlns:a="http://schemas.openxmlformats.org/drawingml/2006/main" noGrp="1"/>
          </p:cNvSpPr>
          <p:nvPr>
            <p:ph type="body" idx="45" hasCustomPrompt="1"/>
          </p:nvPr>
        </p:nvSpPr>
        <p:spPr>
          <a:xfrm xmlns:a="http://schemas.openxmlformats.org/drawingml/2006/main">
            <a:off x="7527292" y="2826697"/>
            <a:ext cx="3866856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23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xmlns:a="http://schemas.openxmlformats.org/drawingml/2006/main" noGrp="1"/>
          </p:cNvSpPr>
          <p:nvPr>
            <p:ph type="body" idx="46" hasCustomPrompt="1"/>
          </p:nvPr>
        </p:nvSpPr>
        <p:spPr>
          <a:xfrm xmlns:a="http://schemas.openxmlformats.org/drawingml/2006/main">
            <a:off x="7527292" y="3374436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24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xmlns:a="http://schemas.openxmlformats.org/drawingml/2006/main" noGrp="1"/>
          </p:cNvSpPr>
          <p:nvPr>
            <p:ph type="body" idx="47" hasCustomPrompt="1"/>
          </p:nvPr>
        </p:nvSpPr>
        <p:spPr>
          <a:xfrm xmlns:a="http://schemas.openxmlformats.org/drawingml/2006/main">
            <a:off x="7527292" y="4410809"/>
            <a:ext cx="3866856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25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xmlns:a="http://schemas.openxmlformats.org/drawingml/2006/main" noGrp="1"/>
          </p:cNvSpPr>
          <p:nvPr>
            <p:ph type="body" idx="48" hasCustomPrompt="1"/>
          </p:nvPr>
        </p:nvSpPr>
        <p:spPr>
          <a:xfrm xmlns:a="http://schemas.openxmlformats.org/drawingml/2006/main">
            <a:off x="7527292" y="4958548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2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xmlns:a="http://schemas.openxmlformats.org/drawingml/2006/main" noGrp="1"/>
          </p:cNvSpPr>
          <p:nvPr>
            <p:ph type="body" idx="49" hasCustomPrompt="1"/>
          </p:nvPr>
        </p:nvSpPr>
        <p:spPr>
          <a:xfrm xmlns:a="http://schemas.openxmlformats.org/drawingml/2006/main">
            <a:off x="778493" y="1187988"/>
            <a:ext cx="771003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01</a:t>
            </a:r>
          </a:p>
        </p:txBody>
      </p:sp>
      <p:sp>
        <p:nvSpPr>
          <p:cNvPr id="28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xmlns:a="http://schemas.openxmlformats.org/drawingml/2006/main" noGrp="1"/>
          </p:cNvSpPr>
          <p:nvPr>
            <p:ph type="body" idx="50" hasCustomPrompt="1"/>
          </p:nvPr>
        </p:nvSpPr>
        <p:spPr>
          <a:xfrm xmlns:a="http://schemas.openxmlformats.org/drawingml/2006/main">
            <a:off x="759137" y="2791972"/>
            <a:ext cx="771003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02</a:t>
            </a:r>
          </a:p>
        </p:txBody>
      </p:sp>
      <p:sp>
        <p:nvSpPr>
          <p:cNvPr id="29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xmlns:a="http://schemas.openxmlformats.org/drawingml/2006/main" noGrp="1"/>
          </p:cNvSpPr>
          <p:nvPr>
            <p:ph type="body" idx="51" hasCustomPrompt="1"/>
          </p:nvPr>
        </p:nvSpPr>
        <p:spPr>
          <a:xfrm xmlns:a="http://schemas.openxmlformats.org/drawingml/2006/main">
            <a:off x="759137" y="4376084"/>
            <a:ext cx="771003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03</a:t>
            </a:r>
          </a:p>
        </p:txBody>
      </p:sp>
      <p:sp>
        <p:nvSpPr>
          <p:cNvPr id="30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xmlns:a="http://schemas.openxmlformats.org/drawingml/2006/main" noGrp="1"/>
          </p:cNvSpPr>
          <p:nvPr>
            <p:ph type="body" idx="52" hasCustomPrompt="1"/>
          </p:nvPr>
        </p:nvSpPr>
        <p:spPr>
          <a:xfrm xmlns:a="http://schemas.openxmlformats.org/drawingml/2006/main">
            <a:off x="6451600" y="1187988"/>
            <a:ext cx="771003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04</a:t>
            </a:r>
          </a:p>
        </p:txBody>
      </p:sp>
      <p:sp>
        <p:nvSpPr>
          <p:cNvPr id="31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xmlns:a="http://schemas.openxmlformats.org/drawingml/2006/main" noGrp="1"/>
          </p:cNvSpPr>
          <p:nvPr>
            <p:ph type="body" idx="53" hasCustomPrompt="1"/>
          </p:nvPr>
        </p:nvSpPr>
        <p:spPr>
          <a:xfrm xmlns:a="http://schemas.openxmlformats.org/drawingml/2006/main">
            <a:off x="6432244" y="2791972"/>
            <a:ext cx="771003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05</a:t>
            </a:r>
          </a:p>
        </p:txBody>
      </p:sp>
      <p:sp>
        <p:nvSpPr>
          <p:cNvPr id="32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xmlns:a="http://schemas.openxmlformats.org/drawingml/2006/main" noGrp="1"/>
          </p:cNvSpPr>
          <p:nvPr>
            <p:ph type="body" idx="54" hasCustomPrompt="1"/>
          </p:nvPr>
        </p:nvSpPr>
        <p:spPr>
          <a:xfrm xmlns:a="http://schemas.openxmlformats.org/drawingml/2006/main">
            <a:off x="6432244" y="4376084"/>
            <a:ext cx="771003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06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CAFA80CC-940E-479C-90C0-76DA923785E9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72682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27" name="Рисунок 7">
            <a:extLst xmlns:a="http://schemas.openxmlformats.org/drawingml/2006/main">
              <a:ext uri="{FF2B5EF4-FFF2-40B4-BE49-F238E27FC236}">
                <a16:creationId xmlns:a16="http://schemas.microsoft.com/office/drawing/2014/main" id="{7F6989B1-EABA-40DD-BFD6-7E0075CDDEE8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7440147" y="1016001"/>
            <a:ext cx="4405777" cy="307847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Рисунок 9">
            <a:extLst xmlns:a="http://schemas.openxmlformats.org/drawingml/2006/main">
              <a:ext uri="{FF2B5EF4-FFF2-40B4-BE49-F238E27FC236}">
                <a16:creationId xmlns:a16="http://schemas.microsoft.com/office/drawing/2014/main" id="{C157B27F-5477-43C4-BE9E-F7CF2A081F1A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7440149" y="4389108"/>
            <a:ext cx="4405775" cy="181166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Рисунок 11">
            <a:extLst xmlns:a="http://schemas.openxmlformats.org/drawingml/2006/main">
              <a:ext uri="{FF2B5EF4-FFF2-40B4-BE49-F238E27FC236}">
                <a16:creationId xmlns:a16="http://schemas.microsoft.com/office/drawing/2014/main" id="{3E695B26-F7D2-4380-AAA1-0FB24A689AAD}"/>
              </a:ext>
            </a:extLst>
          </p:cNvPr>
          <p:cNvSpPr>
            <a:spLocks xmlns:a="http://schemas.openxmlformats.org/drawingml/2006/main" noGrp="1"/>
          </p:cNvSpPr>
          <p:nvPr>
            <p:ph type="pic" idx="12"/>
          </p:nvPr>
        </p:nvSpPr>
        <p:spPr>
          <a:xfrm xmlns:a="http://schemas.openxmlformats.org/drawingml/2006/main">
            <a:off x="346075" y="3223948"/>
            <a:ext cx="6806142" cy="297682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Текст 15">
            <a:extLst xmlns:a="http://schemas.openxmlformats.org/drawingml/2006/main">
              <a:ext uri="{FF2B5EF4-FFF2-40B4-BE49-F238E27FC236}">
                <a16:creationId xmlns:a16="http://schemas.microsoft.com/office/drawing/2014/main" id="{7EA2CF14-9D94-4B6F-AAA7-0B38CBB654CE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346075" y="1016001"/>
            <a:ext cx="6806142" cy="202988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3.xml><?xml version="1.0" encoding="utf-8"?>
<p:sldLayout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82A4DA7B-A7D8-4443-AD1C-4C7CDC678488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1107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23" name="Текст 101">
            <a:extLst xmlns:a="http://schemas.openxmlformats.org/drawingml/2006/main">
              <a:ext uri="{FF2B5EF4-FFF2-40B4-BE49-F238E27FC236}">
                <a16:creationId xmlns:a16="http://schemas.microsoft.com/office/drawing/2014/main" id="{B61EFF39-7063-4F67-A1C0-B9D05F3602E3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1994303" y="2973742"/>
            <a:ext cx="2190810" cy="910516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Текст</a:t>
            </a:r>
          </a:p>
        </p:txBody>
      </p:sp>
      <p:sp>
        <p:nvSpPr>
          <p:cNvPr id="75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A0F2F041-BB01-463D-9CD2-6A231D592408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6662924" y="1588128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6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58BDD636-A558-406A-A768-05FF3D12BD86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6662924" y="2445138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7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53EE4994-79EE-43D0-B40B-E2DE25879B80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6662924" y="3302147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8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4CD31D83-EE69-46A0-B5B2-B2969969DCFB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62924" y="4159156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9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BFB2A4EF-E632-42AC-82F0-453D4A95A9E4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6662924" y="5016166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44E505DF-C567-47F2-9374-60838F800101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1107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683077" y="1026867"/>
            <a:ext cx="4790314" cy="1615356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83077" y="1626932"/>
            <a:ext cx="4790314" cy="1015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6683077" y="2807582"/>
            <a:ext cx="4790314" cy="1615356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6683077" y="3407647"/>
            <a:ext cx="4790314" cy="1015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6683077" y="4584029"/>
            <a:ext cx="4790314" cy="1615356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6683077" y="5184094"/>
            <a:ext cx="4790314" cy="1015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2938A0C3-5C2F-47B8-B008-79A49A1195BA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9532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683077" y="1016000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83077" y="1395537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6683077" y="2284561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6683077" y="2664098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6683077" y="3553122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6683077" y="3932659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6683077" y="4821684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6683077" y="5201221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6.xml><?xml version="1.0" encoding="utf-8"?>
<p:sldLayout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BF4F29EB-DFD0-428E-8E89-ED117A3553E3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7721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683077" y="1016000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83077" y="1395537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6683077" y="2284561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6683077" y="2664098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6683077" y="3553122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6683077" y="3932659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6683077" y="4821684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6683077" y="5201221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7.xml><?xml version="1.0" encoding="utf-8"?>
<p:sldLayout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D52F0272-0FEA-44CE-966E-3D169B2F53D4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E583EE3-33C6-4FCC-9F56-28AB0B4FCAD9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346075" y="1024937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AFEBE25F-FFFE-4B9D-94E7-7A69C7B0D747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346075" y="1380939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E63DE62-DFB7-44A9-A85D-B687FAE797DC}"/>
              </a:ext>
            </a:extLst>
          </p:cNvPr>
          <p:cNvSpPr>
            <a:spLocks xmlns:a="http://schemas.openxmlformats.org/drawingml/2006/main" noGrp="1"/>
          </p:cNvSpPr>
          <p:nvPr>
            <p:ph type="body" idx="28"/>
          </p:nvPr>
        </p:nvSpPr>
        <p:spPr>
          <a:xfrm xmlns:a="http://schemas.openxmlformats.org/drawingml/2006/main">
            <a:off x="4832960" y="1024937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5791B9B-D32F-4C66-AD0A-B1F3CB6B2B21}"/>
              </a:ext>
            </a:extLst>
          </p:cNvPr>
          <p:cNvSpPr>
            <a:spLocks xmlns:a="http://schemas.openxmlformats.org/drawingml/2006/main" noGrp="1"/>
          </p:cNvSpPr>
          <p:nvPr>
            <p:ph type="body" idx="29"/>
          </p:nvPr>
        </p:nvSpPr>
        <p:spPr>
          <a:xfrm xmlns:a="http://schemas.openxmlformats.org/drawingml/2006/main">
            <a:off x="4832960" y="1380939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052024B-27A5-4D0B-A7E7-5161FB0ED379}"/>
              </a:ext>
            </a:extLst>
          </p:cNvPr>
          <p:cNvSpPr>
            <a:spLocks xmlns:a="http://schemas.openxmlformats.org/drawingml/2006/main" noGrp="1"/>
          </p:cNvSpPr>
          <p:nvPr>
            <p:ph type="body" idx="30"/>
          </p:nvPr>
        </p:nvSpPr>
        <p:spPr>
          <a:xfrm xmlns:a="http://schemas.openxmlformats.org/drawingml/2006/main">
            <a:off x="9330862" y="1024937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9DFC47B0-ECC1-49CE-99A3-DC05480669A7}"/>
              </a:ext>
            </a:extLst>
          </p:cNvPr>
          <p:cNvSpPr>
            <a:spLocks xmlns:a="http://schemas.openxmlformats.org/drawingml/2006/main" noGrp="1"/>
          </p:cNvSpPr>
          <p:nvPr>
            <p:ph type="body" idx="31"/>
          </p:nvPr>
        </p:nvSpPr>
        <p:spPr>
          <a:xfrm xmlns:a="http://schemas.openxmlformats.org/drawingml/2006/main">
            <a:off x="9330862" y="1380939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B86BD35-3919-4E07-B138-AAF7CFF7DF02}"/>
              </a:ext>
            </a:extLst>
          </p:cNvPr>
          <p:cNvSpPr>
            <a:spLocks xmlns:a="http://schemas.openxmlformats.org/drawingml/2006/main" noGrp="1"/>
          </p:cNvSpPr>
          <p:nvPr>
            <p:ph type="body" idx="32"/>
          </p:nvPr>
        </p:nvSpPr>
        <p:spPr>
          <a:xfrm xmlns:a="http://schemas.openxmlformats.org/drawingml/2006/main">
            <a:off x="2593517" y="4358152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10D94F19-5929-4A71-8C96-769ED6DD0BAE}"/>
              </a:ext>
            </a:extLst>
          </p:cNvPr>
          <p:cNvSpPr>
            <a:spLocks xmlns:a="http://schemas.openxmlformats.org/drawingml/2006/main" noGrp="1"/>
          </p:cNvSpPr>
          <p:nvPr>
            <p:ph type="body" idx="33"/>
          </p:nvPr>
        </p:nvSpPr>
        <p:spPr>
          <a:xfrm xmlns:a="http://schemas.openxmlformats.org/drawingml/2006/main">
            <a:off x="2593517" y="4714154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84303F2-08F5-497F-BC9B-59F70995863F}"/>
              </a:ext>
            </a:extLst>
          </p:cNvPr>
          <p:cNvSpPr>
            <a:spLocks xmlns:a="http://schemas.openxmlformats.org/drawingml/2006/main" noGrp="1"/>
          </p:cNvSpPr>
          <p:nvPr>
            <p:ph type="body" idx="34"/>
          </p:nvPr>
        </p:nvSpPr>
        <p:spPr>
          <a:xfrm xmlns:a="http://schemas.openxmlformats.org/drawingml/2006/main">
            <a:off x="7080402" y="4358152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EA5C32CD-4539-4313-8B67-943CB8F5EBD9}"/>
              </a:ext>
            </a:extLst>
          </p:cNvPr>
          <p:cNvSpPr>
            <a:spLocks xmlns:a="http://schemas.openxmlformats.org/drawingml/2006/main" noGrp="1"/>
          </p:cNvSpPr>
          <p:nvPr>
            <p:ph type="body" idx="35"/>
          </p:nvPr>
        </p:nvSpPr>
        <p:spPr>
          <a:xfrm xmlns:a="http://schemas.openxmlformats.org/drawingml/2006/main">
            <a:off x="7080402" y="4714154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0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4256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18.xml><?xml version="1.0" encoding="utf-8"?>
<p:sldLayout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062B0DBE-B5A9-470E-85A9-7CC062D5339A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0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7650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3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2FAEFDC9-8968-4F3D-8F8F-5591D6F30FE0}"/>
              </a:ext>
            </a:extLst>
          </p:cNvPr>
          <p:cNvSpPr>
            <a:spLocks xmlns:a="http://schemas.openxmlformats.org/drawingml/2006/main" noGrp="1"/>
          </p:cNvSpPr>
          <p:nvPr>
            <p:ph type="body" idx="26" hasCustomPrompt="1"/>
          </p:nvPr>
        </p:nvSpPr>
        <p:spPr>
          <a:xfrm xmlns:a="http://schemas.openxmlformats.org/drawingml/2006/main">
            <a:off x="517027" y="3810175"/>
            <a:ext cx="3264113" cy="2375115"/>
          </a:xfrm>
          <a:prstGeom xmlns:a="http://schemas.openxmlformats.org/drawingml/2006/main" prst="roundRect">
            <a:avLst>
              <a:gd name="adj" fmla="val 101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Описание проблемы </a:t>
            </a:r>
          </a:p>
        </p:txBody>
      </p:sp>
      <p:sp>
        <p:nvSpPr>
          <p:cNvPr id="15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A7C77525-23F2-401E-A901-0374D8239BBC}"/>
              </a:ext>
            </a:extLst>
          </p:cNvPr>
          <p:cNvSpPr>
            <a:spLocks xmlns:a="http://schemas.openxmlformats.org/drawingml/2006/main" noGrp="1"/>
          </p:cNvSpPr>
          <p:nvPr>
            <p:ph type="body" idx="31" hasCustomPrompt="1"/>
          </p:nvPr>
        </p:nvSpPr>
        <p:spPr>
          <a:xfrm xmlns:a="http://schemas.openxmlformats.org/drawingml/2006/main">
            <a:off x="4464542" y="3810175"/>
            <a:ext cx="3264113" cy="2375115"/>
          </a:xfrm>
          <a:prstGeom xmlns:a="http://schemas.openxmlformats.org/drawingml/2006/main" prst="roundRect">
            <a:avLst>
              <a:gd name="adj" fmla="val 101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Примеры уже имеющихся способов решения данной проблемы</a:t>
            </a:r>
          </a:p>
        </p:txBody>
      </p:sp>
      <p:sp>
        <p:nvSpPr>
          <p:cNvPr id="15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2F4E226-3842-4532-A60F-4E8C02DAD6DC}"/>
              </a:ext>
            </a:extLst>
          </p:cNvPr>
          <p:cNvSpPr>
            <a:spLocks xmlns:a="http://schemas.openxmlformats.org/drawingml/2006/main" noGrp="1"/>
          </p:cNvSpPr>
          <p:nvPr>
            <p:ph type="body" idx="32" hasCustomPrompt="1"/>
          </p:nvPr>
        </p:nvSpPr>
        <p:spPr>
          <a:xfrm xmlns:a="http://schemas.openxmlformats.org/drawingml/2006/main">
            <a:off x="8385481" y="3810175"/>
            <a:ext cx="3264113" cy="2375115"/>
          </a:xfrm>
          <a:prstGeom xmlns:a="http://schemas.openxmlformats.org/drawingml/2006/main" prst="roundRect">
            <a:avLst>
              <a:gd name="adj" fmla="val 101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Ваше предложение решения данной проблемы</a:t>
            </a:r>
          </a:p>
        </p:txBody>
      </p:sp>
      <p:sp>
        <p:nvSpPr>
          <p:cNvPr id="18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44A233F-7BDF-4F40-844F-FC23B1912AA4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517027" y="3252336"/>
            <a:ext cx="3264113" cy="391783"/>
          </a:xfrm>
          <a:prstGeom xmlns:a="http://schemas.openxmlformats.org/drawingml/2006/main" prst="roundRect">
            <a:avLst>
              <a:gd name="adj" fmla="val 10167"/>
            </a:avLst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Проблема</a:t>
            </a:r>
          </a:p>
        </p:txBody>
      </p:sp>
      <p:sp>
        <p:nvSpPr>
          <p:cNvPr id="19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1683ED6E-2444-48B8-A78B-F1EBA53E21C2}"/>
              </a:ext>
            </a:extLst>
          </p:cNvPr>
          <p:cNvSpPr>
            <a:spLocks xmlns:a="http://schemas.openxmlformats.org/drawingml/2006/main" noGrp="1"/>
          </p:cNvSpPr>
          <p:nvPr>
            <p:ph type="body" idx="34" hasCustomPrompt="1"/>
          </p:nvPr>
        </p:nvSpPr>
        <p:spPr>
          <a:xfrm xmlns:a="http://schemas.openxmlformats.org/drawingml/2006/main">
            <a:off x="4464542" y="3252336"/>
            <a:ext cx="3264113" cy="391783"/>
          </a:xfrm>
          <a:prstGeom xmlns:a="http://schemas.openxmlformats.org/drawingml/2006/main" prst="roundRect">
            <a:avLst>
              <a:gd name="adj" fmla="val 10167"/>
            </a:avLst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Альтернативные решения</a:t>
            </a:r>
          </a:p>
        </p:txBody>
      </p:sp>
      <p:sp>
        <p:nvSpPr>
          <p:cNvPr id="19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788F042-DAFC-4B5A-B1AA-8ADEFAAA9801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8385481" y="3252336"/>
            <a:ext cx="3264113" cy="391783"/>
          </a:xfrm>
          <a:prstGeom xmlns:a="http://schemas.openxmlformats.org/drawingml/2006/main" prst="roundRect">
            <a:avLst>
              <a:gd name="adj" fmla="val 10167"/>
            </a:avLst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Решение</a:t>
            </a:r>
          </a:p>
        </p:txBody>
      </p:sp>
    </p:spTree>
  </p:cSld>
</p:sldLayout>
</file>

<file path=ppt/slideLayouts/slideLayout19.xml><?xml version="1.0" encoding="utf-8"?>
<p:sldLayout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4162940" y="1264478"/>
            <a:ext cx="3866121" cy="2436377"/>
          </a:xfrm>
        </p:spPr>
      </p:sp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4D396B86-640F-4AD1-BBB2-E085B6CD8771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0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346075" y="4656083"/>
            <a:ext cx="3626835" cy="15446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90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4240502" y="4656083"/>
            <a:ext cx="3626835" cy="15446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91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8230203" y="4656083"/>
            <a:ext cx="3626835" cy="15446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</p:spTree>
  </p:cSld>
</p:sldLayout>
</file>

<file path=ppt/slideLayouts/slideLayout20.xml><?xml version="1.0" encoding="utf-8"?>
<p:sldLayout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93AF0E63-1EB1-47F5-B09E-CA3E5DE528F3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0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3289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1210643" y="4324451"/>
            <a:ext cx="4121687" cy="161226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90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6857950" y="4324451"/>
            <a:ext cx="4121687" cy="161226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79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1210642" y="1577998"/>
            <a:ext cx="4121688" cy="2283975"/>
          </a:xfrm>
        </p:spPr>
      </p:sp>
      <p:sp>
        <p:nvSpPr>
          <p:cNvPr id="123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C7FB8BAF-17B6-40DC-9912-73B3494AC45E}"/>
              </a:ext>
            </a:extLst>
          </p:cNvPr>
          <p:cNvSpPr>
            <a:spLocks xmlns:a="http://schemas.openxmlformats.org/drawingml/2006/main" noGrp="1"/>
          </p:cNvSpPr>
          <p:nvPr>
            <p:ph type="pic" idx="18"/>
          </p:nvPr>
        </p:nvSpPr>
        <p:spPr>
          <a:xfrm xmlns:a="http://schemas.openxmlformats.org/drawingml/2006/main">
            <a:off x="6855540" y="1577998"/>
            <a:ext cx="4121688" cy="2283975"/>
          </a:xfrm>
        </p:spPr>
      </p:sp>
    </p:spTree>
  </p:cSld>
</p:sldLayout>
</file>

<file path=ppt/slideLayouts/slideLayout21.xml><?xml version="1.0" encoding="utf-8"?>
<p:sldLayout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5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5009872" y="1235915"/>
            <a:ext cx="2172255" cy="4602697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13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4F2EADD-49A3-44E7-AC8B-D07BF1B4F1A8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356349" y="1641283"/>
            <a:ext cx="3812931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15551546-3EE0-4A54-9DEE-1E9FEBF43B2F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356349" y="2020820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9D9ADB6F-AC53-4034-92EE-80435562B80A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8040021" y="1641283"/>
            <a:ext cx="3812931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EAB22390-1508-4419-B1B3-375A734DF0EE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8040021" y="2020820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FF699DD2-8E32-4C98-8444-90139EB2FDC6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356349" y="3864598"/>
            <a:ext cx="3812931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496F1D2-4B4B-412C-B228-1C27099F20D3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356349" y="4244135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55E268D8-B309-4AA0-8E1B-30DF4A867252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8040021" y="3864598"/>
            <a:ext cx="3812931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E6797EA4-A26A-41BA-A1AB-8E1F9B9574DE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8040021" y="4244135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cxnSp>
        <p:nvCxnSpPr>
          <p:cNvPr id="272" name="Google Shape;2799;p94"/>
          <p:cNvCxnSpPr/>
          <p:nvPr/>
        </p:nvCxnSpPr>
        <p:spPr>
          <a:xfrm xmlns:a="http://schemas.openxmlformats.org/drawingml/2006/main">
            <a:off x="4244694" y="1870413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3" name="Google Shape;2799;p94"/>
          <p:cNvCxnSpPr/>
          <p:nvPr/>
        </p:nvCxnSpPr>
        <p:spPr>
          <a:xfrm xmlns:a="http://schemas.openxmlformats.org/drawingml/2006/main">
            <a:off x="4244694" y="4094630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4" name="Google Shape;2799;p94"/>
          <p:cNvCxnSpPr/>
          <p:nvPr/>
        </p:nvCxnSpPr>
        <p:spPr>
          <a:xfrm xmlns:a="http://schemas.openxmlformats.org/drawingml/2006/main">
            <a:off x="7250583" y="1870413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5" name="Google Shape;2799;p94"/>
          <p:cNvCxnSpPr/>
          <p:nvPr/>
        </p:nvCxnSpPr>
        <p:spPr>
          <a:xfrm xmlns:a="http://schemas.openxmlformats.org/drawingml/2006/main">
            <a:off x="7250583" y="4094630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9" name="Дата 8">
            <a:extLst xmlns:a="http://schemas.openxmlformats.org/drawingml/2006/main"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xmlns:a="http://schemas.openxmlformats.org/drawingml/2006/main" noGrp="1"/>
          </p:cNvSpPr>
          <p:nvPr>
            <p:ph type="dt" idx="2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D490EE5-ED7D-46E8-8345-A78A0CB0F4A4}" type="datetime1">
              <a:t>14.09.2026</a:t>
            </a:fld>
            <a:endParaRPr/>
          </a:p>
        </p:txBody>
      </p:sp>
      <p:sp>
        <p:nvSpPr>
          <p:cNvPr id="10" name="Нижний колонтитул 9">
            <a:extLst xmlns:a="http://schemas.openxmlformats.org/drawingml/2006/main">
              <a:ext uri="{FF2B5EF4-FFF2-40B4-BE49-F238E27FC236}">
                <a16:creationId xmlns:a16="http://schemas.microsoft.com/office/drawing/2014/main" id="{2648A9B9-3888-6E59-EA1C-76276C4EE93D}"/>
              </a:ext>
            </a:extLst>
          </p:cNvPr>
          <p:cNvSpPr>
            <a:spLocks xmlns:a="http://schemas.openxmlformats.org/drawingml/2006/main" noGrp="1"/>
          </p:cNvSpPr>
          <p:nvPr>
            <p:ph type="ftr" idx="2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Номер слайда 10">
            <a:extLst xmlns:a="http://schemas.openxmlformats.org/drawingml/2006/main"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xmlns:a="http://schemas.openxmlformats.org/drawingml/2006/main" noGrp="1"/>
          </p:cNvSpPr>
          <p:nvPr>
            <p:ph type="sldNum" idx="3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22.xml><?xml version="1.0" encoding="utf-8"?>
<p:sldLayout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5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1001460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75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5F8A3887-CB84-43EA-BFC4-CD93F421C5F2}"/>
              </a:ext>
            </a:extLst>
          </p:cNvPr>
          <p:cNvSpPr>
            <a:spLocks xmlns:a="http://schemas.openxmlformats.org/drawingml/2006/main" noGrp="1"/>
          </p:cNvSpPr>
          <p:nvPr>
            <p:ph type="pic" idx="15"/>
          </p:nvPr>
        </p:nvSpPr>
        <p:spPr>
          <a:xfrm xmlns:a="http://schemas.openxmlformats.org/drawingml/2006/main">
            <a:off x="3831097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102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E009EEBC-6069-4389-9953-A05FCC07FDF9}"/>
              </a:ext>
            </a:extLst>
          </p:cNvPr>
          <p:cNvSpPr>
            <a:spLocks xmlns:a="http://schemas.openxmlformats.org/drawingml/2006/main" noGrp="1"/>
          </p:cNvSpPr>
          <p:nvPr>
            <p:ph type="pic" idx="16"/>
          </p:nvPr>
        </p:nvSpPr>
        <p:spPr>
          <a:xfrm xmlns:a="http://schemas.openxmlformats.org/drawingml/2006/main">
            <a:off x="6660734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171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16E9D3D5-A966-4770-89F5-48C9F92735FE}"/>
              </a:ext>
            </a:extLst>
          </p:cNvPr>
          <p:cNvSpPr>
            <a:spLocks xmlns:a="http://schemas.openxmlformats.org/drawingml/2006/main" noGrp="1"/>
          </p:cNvSpPr>
          <p:nvPr>
            <p:ph type="pic" idx="17"/>
          </p:nvPr>
        </p:nvSpPr>
        <p:spPr>
          <a:xfrm xmlns:a="http://schemas.openxmlformats.org/drawingml/2006/main">
            <a:off x="9490368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DC8C16AD-D907-4463-BE30-FCBB33ACAE3F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97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346076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19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3269562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199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xmlns:a="http://schemas.openxmlformats.org/drawingml/2006/main" noGrp="1"/>
          </p:cNvSpPr>
          <p:nvPr>
            <p:ph type="body" idx="20"/>
          </p:nvPr>
        </p:nvSpPr>
        <p:spPr>
          <a:xfrm xmlns:a="http://schemas.openxmlformats.org/drawingml/2006/main">
            <a:off x="6193048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200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9116535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23.xml><?xml version="1.0" encoding="utf-8"?>
<p:sldLayout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a5f43b90757b4588" /><Relationship Type="http://schemas.openxmlformats.org/officeDocument/2006/relationships/theme" Target="/ppt/slideMasters/theme/theme2.xml" Id="Redd2a882ac39431a" /><Relationship Type="http://schemas.openxmlformats.org/officeDocument/2006/relationships/slideLayout" Target="/ppt/slideLayouts/slideLayout1.xml" Id="Rc6b75f5572a34d77" /><Relationship Type="http://schemas.openxmlformats.org/officeDocument/2006/relationships/slideLayout" Target="/ppt/slideLayouts/slideLayout2.xml" Id="R5b73032cd26144fb" /><Relationship Type="http://schemas.openxmlformats.org/officeDocument/2006/relationships/slideLayout" Target="/ppt/slideLayouts/slideLayout3.xml" Id="Rb8cc2f8412ba49ea" /><Relationship Type="http://schemas.openxmlformats.org/officeDocument/2006/relationships/slideLayout" Target="/ppt/slideLayouts/slideLayout4.xml" Id="R26ab58a5674d4970" /><Relationship Type="http://schemas.openxmlformats.org/officeDocument/2006/relationships/slideLayout" Target="/ppt/slideLayouts/slideLayout5.xml" Id="R227f2cb80c264ed8" /><Relationship Type="http://schemas.openxmlformats.org/officeDocument/2006/relationships/slideLayout" Target="/ppt/slideLayouts/slideLayout6.xml" Id="R2f10396cb20b44bc" /><Relationship Type="http://schemas.openxmlformats.org/officeDocument/2006/relationships/slideLayout" Target="/ppt/slideLayouts/slideLayout7.xml" Id="Rbdde6f89d3034563" /><Relationship Type="http://schemas.openxmlformats.org/officeDocument/2006/relationships/slideLayout" Target="/ppt/slideLayouts/slideLayout8.xml" Id="Rcd41979d06db4689" /><Relationship Type="http://schemas.openxmlformats.org/officeDocument/2006/relationships/slideLayout" Target="/ppt/slideLayouts/slideLayout9.xml" Id="Rc64e0a62f2a34d67" /><Relationship Type="http://schemas.openxmlformats.org/officeDocument/2006/relationships/slideLayout" Target="/ppt/slideLayouts/slideLayout10.xml" Id="Redde1cb45a704b62" /><Relationship Type="http://schemas.openxmlformats.org/officeDocument/2006/relationships/slideLayout" Target="/ppt/slideLayouts/slideLayout11.xml" Id="Rd4494db578904f7f" /><Relationship Type="http://schemas.openxmlformats.org/officeDocument/2006/relationships/slideLayout" Target="/ppt/slideLayouts/slideLayout12.xml" Id="R44d6a7dd0ca24942" /><Relationship Type="http://schemas.openxmlformats.org/officeDocument/2006/relationships/slideLayout" Target="/ppt/slideLayouts/slideLayout13.xml" Id="R6b45db911cb14b2a" /><Relationship Type="http://schemas.openxmlformats.org/officeDocument/2006/relationships/slideLayout" Target="/ppt/slideLayouts/slideLayout14.xml" Id="R34e433ad66404d08" /><Relationship Type="http://schemas.openxmlformats.org/officeDocument/2006/relationships/slideLayout" Target="/ppt/slideLayouts/slideLayout15.xml" Id="R309fa2c0763948f7" /><Relationship Type="http://schemas.openxmlformats.org/officeDocument/2006/relationships/slideLayout" Target="/ppt/slideLayouts/slideLayout16.xml" Id="R6ce523f5af4449a5" /><Relationship Type="http://schemas.openxmlformats.org/officeDocument/2006/relationships/slideLayout" Target="/ppt/slideLayouts/slideLayout17.xml" Id="Rf79b18a1f915428c" /><Relationship Type="http://schemas.openxmlformats.org/officeDocument/2006/relationships/slideLayout" Target="/ppt/slideLayouts/slideLayout18.xml" Id="Rddbc17199a3e4330" /><Relationship Type="http://schemas.openxmlformats.org/officeDocument/2006/relationships/slideLayout" Target="/ppt/slideLayouts/slideLayout19.xml" Id="Rdf0e2a6b48964f76" /><Relationship Type="http://schemas.openxmlformats.org/officeDocument/2006/relationships/slideLayout" Target="/ppt/slideLayouts/slideLayout20.xml" Id="R7afc509b5d984693" /><Relationship Type="http://schemas.openxmlformats.org/officeDocument/2006/relationships/slideLayout" Target="/ppt/slideLayouts/slideLayout21.xml" Id="Re265652f17d24822" /><Relationship Type="http://schemas.openxmlformats.org/officeDocument/2006/relationships/slideLayout" Target="/ppt/slideLayouts/slideLayout22.xml" Id="Ra2a366020256414a" /><Relationship Type="http://schemas.openxmlformats.org/officeDocument/2006/relationships/slideLayout" Target="/ppt/slideLayouts/slideLayout23.xml" Id="R2941771bbb4d40d4" /></Relationships>
</file>

<file path=ppt/slideMasters/slideMaster1.xml><?xml version="1.0" encoding="utf-8"?>
<p:sldMaster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a5f43b90757b4588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5392" y="1016177"/>
            <a:ext cx="11561229" cy="51607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Дата 3">
            <a:extLst xmlns:a="http://schemas.openxmlformats.org/drawingml/2006/main"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9D490EE5-ED7D-46E8-8345-A78A0CB0F4A4}" type="datetime1">
              <a:t>14.09.2026</a:t>
            </a:fld>
            <a:endParaRPr/>
          </a:p>
        </p:txBody>
      </p:sp>
      <p:sp>
        <p:nvSpPr>
          <p:cNvPr id="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5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6b75f5572a34d77"/>
    <p:sldLayoutId xmlns:r="http://schemas.openxmlformats.org/officeDocument/2006/relationships" id="2147483650" r:id="R5b73032cd26144fb"/>
    <p:sldLayoutId xmlns:r="http://schemas.openxmlformats.org/officeDocument/2006/relationships" id="2147483651" r:id="Rb8cc2f8412ba49ea"/>
    <p:sldLayoutId xmlns:r="http://schemas.openxmlformats.org/officeDocument/2006/relationships" id="2147483652" r:id="R26ab58a5674d4970"/>
    <p:sldLayoutId xmlns:r="http://schemas.openxmlformats.org/officeDocument/2006/relationships" id="2147483653" r:id="R227f2cb80c264ed8"/>
    <p:sldLayoutId xmlns:r="http://schemas.openxmlformats.org/officeDocument/2006/relationships" id="2147483654" r:id="R2f10396cb20b44bc"/>
    <p:sldLayoutId xmlns:r="http://schemas.openxmlformats.org/officeDocument/2006/relationships" id="2147483655" r:id="Rbdde6f89d3034563"/>
    <p:sldLayoutId xmlns:r="http://schemas.openxmlformats.org/officeDocument/2006/relationships" id="2147483656" r:id="Rcd41979d06db4689"/>
    <p:sldLayoutId xmlns:r="http://schemas.openxmlformats.org/officeDocument/2006/relationships" id="2147483657" r:id="Rc64e0a62f2a34d67"/>
    <p:sldLayoutId xmlns:r="http://schemas.openxmlformats.org/officeDocument/2006/relationships" id="2147483658" r:id="Redde1cb45a704b62"/>
    <p:sldLayoutId xmlns:r="http://schemas.openxmlformats.org/officeDocument/2006/relationships" id="2147483659" r:id="Rd4494db578904f7f"/>
    <p:sldLayoutId xmlns:r="http://schemas.openxmlformats.org/officeDocument/2006/relationships" id="2147483660" r:id="R44d6a7dd0ca24942"/>
    <p:sldLayoutId xmlns:r="http://schemas.openxmlformats.org/officeDocument/2006/relationships" id="2147483661" r:id="R6b45db911cb14b2a"/>
    <p:sldLayoutId xmlns:r="http://schemas.openxmlformats.org/officeDocument/2006/relationships" id="2147483662" r:id="R34e433ad66404d08"/>
    <p:sldLayoutId xmlns:r="http://schemas.openxmlformats.org/officeDocument/2006/relationships" id="2147483663" r:id="R309fa2c0763948f7"/>
    <p:sldLayoutId xmlns:r="http://schemas.openxmlformats.org/officeDocument/2006/relationships" id="2147483664" r:id="R6ce523f5af4449a5"/>
    <p:sldLayoutId xmlns:r="http://schemas.openxmlformats.org/officeDocument/2006/relationships" id="2147483665" r:id="Rf79b18a1f915428c"/>
    <p:sldLayoutId xmlns:r="http://schemas.openxmlformats.org/officeDocument/2006/relationships" id="2147483666" r:id="Rddbc17199a3e4330"/>
    <p:sldLayoutId xmlns:r="http://schemas.openxmlformats.org/officeDocument/2006/relationships" id="2147483667" r:id="Rdf0e2a6b48964f76"/>
    <p:sldLayoutId xmlns:r="http://schemas.openxmlformats.org/officeDocument/2006/relationships" id="2147483668" r:id="R7afc509b5d984693"/>
    <p:sldLayoutId xmlns:r="http://schemas.openxmlformats.org/officeDocument/2006/relationships" id="2147483669" r:id="Re265652f17d24822"/>
    <p:sldLayoutId xmlns:r="http://schemas.openxmlformats.org/officeDocument/2006/relationships" id="2147483670" r:id="Ra2a366020256414a"/>
    <p:sldLayoutId xmlns:r="http://schemas.openxmlformats.org/officeDocument/2006/relationships" id="2147483671" r:id="R2941771bbb4d40d4"/>
  </p:sldLayoutIdLst>
  <p:hf hdr="0" ftr="0" dt="0"/>
  <p:txStyles>
    <p:titleStyle>
      <a:lvl1pPr xmlns:a="http://schemas.openxmlformats.org/drawingml/2006/main" algn="l" defTabSz="578755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144688" indent="-144688" algn="l" defTabSz="578755">
        <a:lnSpc>
          <a:spcPct val="90000"/>
        </a:lnSpc>
        <a:spcBef>
          <a:spcPts val="631"/>
        </a:spcBef>
        <a:buFont typeface="Arial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1pPr>
      <a:lvl2pPr xmlns:a="http://schemas.openxmlformats.org/drawingml/2006/main" marL="434067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723445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012822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1302200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1591576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880955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170334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459712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289378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578755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868132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157510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446887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736266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025644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315021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xmlns:a="http://schemas.openxmlformats.org/drawingml/2006/main" val="F26B43"/>
          </p15:clr>
        </p15:guide>
        <p15:guide id="20" orient="horz" pos="482">
          <p15:clr>
            <a:srgbClr xmlns:a="http://schemas.openxmlformats.org/drawingml/2006/main" val="F26B43"/>
          </p15:clr>
        </p15:guide>
        <p15:guide id="21" pos="218">
          <p15:clr>
            <a:srgbClr xmlns:a="http://schemas.openxmlformats.org/drawingml/2006/main" val="F26B43"/>
          </p15:clr>
        </p15:guide>
        <p15:guide id="22" pos="7469">
          <p15:clr>
            <a:srgbClr xmlns:a="http://schemas.openxmlformats.org/drawingml/2006/main" val="F26B43"/>
          </p15:clr>
        </p15:guide>
        <p15:guide id="23" orient="horz" pos="249">
          <p15:clr>
            <a:srgbClr xmlns:a="http://schemas.openxmlformats.org/drawingml/2006/main" val="F26B43"/>
          </p15:clr>
        </p15:guide>
        <p15:guide id="24" orient="horz" pos="4042">
          <p15:clr>
            <a:srgbClr xmlns:a="http://schemas.openxmlformats.org/drawingml/2006/main" val="F26B43"/>
          </p15:clr>
        </p15:guide>
        <p15:guide id="25" orient="horz" pos="3906">
          <p15:clr>
            <a:srgbClr xmlns:a="http://schemas.openxmlformats.org/drawingml/2006/main" val="F26B43"/>
          </p15:clr>
        </p15:guide>
        <p15:guide id="26" orient="horz" pos="640">
          <p15:clr>
            <a:srgbClr xmlns:a="http://schemas.openxmlformats.org/drawingml/2006/main" val="F26B43"/>
          </p15:clr>
        </p15:guide>
        <p15:guide id="27" pos="3840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Пользовательские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190078bc837d4475" /><Relationship Type="http://schemas.openxmlformats.org/officeDocument/2006/relationships/image" Target="/ppt/media/image3.png" Id="R1b5984bfb5dd4ed0" /><Relationship Type="http://schemas.openxmlformats.org/officeDocument/2006/relationships/notesSlide" Target="/ppt/notesSlides/notesSlide1.xml" Id="R081c2fe5d0714b3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1373c24d0699407e" /><Relationship Type="http://schemas.openxmlformats.org/officeDocument/2006/relationships/notesSlide" Target="/ppt/notesSlides/notesSlide2.xml" Id="R7508d7d9ee11452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214ebce5effc4cbd" /><Relationship Type="http://schemas.openxmlformats.org/officeDocument/2006/relationships/image" Target="/ppt/media/image.jpeg" Id="R80e62d62b1f7431c" /><Relationship Type="http://schemas.openxmlformats.org/officeDocument/2006/relationships/notesSlide" Target="/ppt/notesSlides/notesSlide3.xml" Id="Rf9b38219eee84a4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8979b229feb4509" /><Relationship Type="http://schemas.openxmlformats.org/officeDocument/2006/relationships/notesSlide" Target="/ppt/notesSlides/notesSlide4.xml" Id="R5b5c89eb4cb94c3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5fa0d55963a14f39" /><Relationship Type="http://schemas.openxmlformats.org/officeDocument/2006/relationships/notesSlide" Target="/ppt/notesSlides/notesSlide5.xml" Id="Rde1c5def409e4ff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69dee9f52aca4d54" /><Relationship Type="http://schemas.openxmlformats.org/officeDocument/2006/relationships/notesSlide" Target="/ppt/notesSlides/notesSlide6.xml" Id="Re959dd7503874d4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c639b5765e94f84" /><Relationship Type="http://schemas.openxmlformats.org/officeDocument/2006/relationships/image" Target="/ppt/media/image4.png" Id="Rc87d9fca49c94711" /><Relationship Type="http://schemas.openxmlformats.org/officeDocument/2006/relationships/image" Target="/ppt/media/image2.jpeg" Id="R2723d6a3770c4d43" /><Relationship Type="http://schemas.openxmlformats.org/officeDocument/2006/relationships/notesSlide" Target="/ppt/notesSlides/notesSlide7.xml" Id="R07b5b7dcb78041e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d22cfee38b44d59" /><Relationship Type="http://schemas.openxmlformats.org/officeDocument/2006/relationships/image" Target="/ppt/media/image.png" Id="R3adb83af5aa342ff" /><Relationship Type="http://schemas.openxmlformats.org/officeDocument/2006/relationships/image" Target="/ppt/media/image5.png" Id="Rf331e8c7559140dc" /><Relationship Type="http://schemas.openxmlformats.org/officeDocument/2006/relationships/image" Target="/ppt/media/image3.jpeg" Id="R25fedc7332d9438f" /><Relationship Type="http://schemas.openxmlformats.org/officeDocument/2006/relationships/notesSlide" Target="/ppt/notesSlides/notesSlide8.xml" Id="Rbc0208c9abb1435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8e67415ec964cb4" /><Relationship Type="http://schemas.openxmlformats.org/officeDocument/2006/relationships/image" Target="/ppt/media/image6.png" Id="Ra661101770bf4b42" /><Relationship Type="http://schemas.openxmlformats.org/officeDocument/2006/relationships/notesSlide" Target="/ppt/notesSlides/notesSlide9.xml" Id="R35c36be788ee4a6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68b7a0ed16b948ab" /><Relationship Type="http://schemas.openxmlformats.org/officeDocument/2006/relationships/image" Target="/ppt/media/image.png" Id="R4d18aa1220af41e0" /><Relationship Type="http://schemas.openxmlformats.org/officeDocument/2006/relationships/notesSlide" Target="/ppt/notesSlides/notesSlide10.xml" Id="Rf05e3179c8e34e6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393dc05fcaa34c4e" /><Relationship Type="http://schemas.openxmlformats.org/officeDocument/2006/relationships/image" Target="/ppt/media/image3.png" Id="R40059068790a4267" /><Relationship Type="http://schemas.openxmlformats.org/officeDocument/2006/relationships/notesSlide" Target="/ppt/notesSlides/notesSlide11.xml" Id="R2166be54a352423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5984bfb5dd4ed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C013EC-C18D-4572-80CC-41EF4E74D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КОМАНДА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2ABA68-79C4-4901-BEB7-D5AEEF487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457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2475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МАРШРУТ ПОСТРОЕН!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9037C0-8805-4AB3-AD6B-428011BED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14850"/>
            <a:ext cx="6381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00" b="1">
                <a:solidFill>
                  <a:srgbClr val="F2F2F2"/>
                </a:solidFill>
                <a:latin typeface="Montserrat"/>
                <a:ea typeface="Montserrat"/>
                <a:cs typeface="Montserrat"/>
              </a:defRPr>
            </a:pPr>
            <a:r>
              <a:rPr sz="2800" b="1">
                <a:solidFill>
                  <a:srgbClr val="F2F2F2"/>
                </a:solidFill>
                <a:latin typeface="Montserrat"/>
                <a:ea typeface="Montserrat"/>
                <a:cs typeface="Montserrat"/>
              </a:rPr>
              <a:t>ПЛАНИРОВЩИК</a:t>
            </a:r>
          </a:p>
          <a:p xmlns:a="http://schemas.openxmlformats.org/drawingml/2006/main">
            <a:pPr>
              <a:buNone/>
              <a:defRPr sz="2800" b="1">
                <a:solidFill>
                  <a:srgbClr val="F2F2F2"/>
                </a:solidFill>
                <a:latin typeface="Montserrat"/>
                <a:ea typeface="Montserrat"/>
                <a:cs typeface="Montserrat"/>
              </a:defRPr>
            </a:pPr>
            <a:r>
              <a:rPr sz="2800" b="1">
                <a:solidFill>
                  <a:srgbClr val="F2F2F2"/>
                </a:solidFill>
                <a:latin typeface="Montserrat"/>
                <a:ea typeface="Montserrat"/>
                <a:cs typeface="Montserrat"/>
              </a:rPr>
              <a:t>ВЫЕЗДОВ ИНЖЕНЕРОВ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3C3045-D73C-4025-B311-037ACD53D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53125"/>
            <a:ext cx="876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F2F2F2"/>
                </a:solidFill>
                <a:latin typeface="Montserrat"/>
                <a:ea typeface="Montserrat"/>
                <a:cs typeface="Montserrat"/>
              </a:defRPr>
            </a:pPr>
            <a:r>
              <a:rPr sz="1800">
                <a:solidFill>
                  <a:srgbClr val="F2F2F2"/>
                </a:solidFill>
                <a:latin typeface="Montserrat"/>
                <a:ea typeface="Montserrat"/>
                <a:cs typeface="Montserrat"/>
              </a:rPr>
              <a:t>Автоматическое распределение заявок, дорожные маршруты и перепланирование</a:t>
            </a:r>
          </a:p>
        </p:txBody>
      </p:sp>
    </p:spTree>
    <p:extLst>
      <p:ext uri="{BB962C8B-B14F-4D97-AF65-F5344CB8AC3E}">
        <p14:creationId xmlns:p14="http://schemas.microsoft.com/office/powerpoint/2010/main" val="32220382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DFBFF4-E92A-4BBA-AB85-549D9F64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2850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Ручное планирование ломается на ограничениях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1C8A7-33F8-43A3-9EC3-01F65D613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6E6472"/>
                </a:solidFill>
                <a:latin typeface="Montserrat"/>
                <a:ea typeface="Montserrat"/>
                <a:cs typeface="Montserrat"/>
              </a:defRPr>
            </a:pPr>
            <a:r>
              <a:rPr sz="1350">
                <a:solidFill>
                  <a:srgbClr val="6E6472"/>
                </a:solidFill>
                <a:latin typeface="Montserrat"/>
                <a:ea typeface="Montserrat"/>
                <a:cs typeface="Montserrat"/>
              </a:rPr>
              <a:t>Диспетчер одновременно учитывает квалификацию, транспорт, окна визитов и изменения в течение дня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3BDF1E-C7F6-418E-B613-BCF72ECDE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28800"/>
            <a:ext cx="5810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F1725"/>
                </a:solidFill>
                <a:latin typeface="Montserrat"/>
                <a:ea typeface="Montserrat"/>
                <a:cs typeface="Montserrat"/>
              </a:defRPr>
            </a:pPr>
            <a:r>
              <a:rPr sz="2325" b="1">
                <a:solidFill>
                  <a:srgbClr val="1F1725"/>
                </a:solidFill>
                <a:latin typeface="Montserrat"/>
                <a:ea typeface="Montserrat"/>
                <a:cs typeface="Montserrat"/>
              </a:rPr>
              <a:t>Один конфликт по времени или недоступный инженер меняет несколько маршрутов. Ручная проверка растёт вместе с числом заявок, а причины решений остаются непрозрачными.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3060E2-A263-4902-8B57-2043F23ED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62125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39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10–15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C1FC4F-1C28-452A-AFB7-4B565FFC4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28875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6E6472"/>
                </a:solidFill>
                <a:latin typeface="Montserrat"/>
                <a:ea typeface="Montserrat"/>
                <a:cs typeface="Montserrat"/>
              </a:defRPr>
            </a:pPr>
            <a:r>
              <a:rPr sz="1425">
                <a:solidFill>
                  <a:srgbClr val="6E6472"/>
                </a:solidFill>
                <a:latin typeface="Montserrat"/>
                <a:ea typeface="Montserrat"/>
                <a:cs typeface="Montserrat"/>
              </a:rPr>
              <a:t>инженеров в типовом наборе кейса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07C8F4-EDBB-4638-B88A-596EB287B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337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3900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до 100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6517DC-B181-4DAF-AF9A-55C3CAE25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00500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6E6472"/>
                </a:solidFill>
                <a:latin typeface="Montserrat"/>
                <a:ea typeface="Montserrat"/>
                <a:cs typeface="Montserrat"/>
              </a:defRPr>
            </a:pPr>
            <a:r>
              <a:rPr sz="1425">
                <a:solidFill>
                  <a:srgbClr val="6E6472"/>
                </a:solidFill>
                <a:latin typeface="Montserrat"/>
                <a:ea typeface="Montserrat"/>
                <a:cs typeface="Montserrat"/>
              </a:rPr>
              <a:t>заявок на один рабочий день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173A70-122B-42F0-8627-1F9C22FDC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05375"/>
            <a:ext cx="371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7E77CC"/>
                </a:solidFill>
                <a:latin typeface="Montserrat"/>
                <a:ea typeface="Montserrat"/>
                <a:cs typeface="Montserrat"/>
              </a:defRPr>
            </a:pPr>
            <a:r>
              <a:rPr sz="2850" b="1">
                <a:solidFill>
                  <a:srgbClr val="7E77CC"/>
                </a:solidFill>
                <a:latin typeface="Montserrat"/>
                <a:ea typeface="Montserrat"/>
                <a:cs typeface="Montserrat"/>
              </a:rPr>
              <a:t>несколько минут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5FF87D-36F5-4E52-BF9E-856228589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505450"/>
            <a:ext cx="381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6E6472"/>
                </a:solidFill>
                <a:latin typeface="Montserrat"/>
                <a:ea typeface="Montserrat"/>
                <a:cs typeface="Montserrat"/>
              </a:defRPr>
            </a:pPr>
            <a:r>
              <a:rPr sz="1425">
                <a:solidFill>
                  <a:srgbClr val="6E6472"/>
                </a:solidFill>
                <a:latin typeface="Montserrat"/>
                <a:ea typeface="Montserrat"/>
                <a:cs typeface="Montserrat"/>
              </a:rPr>
              <a:t>на новый план после события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D34BC6-B145-4F45-BAB5-ADE32BFED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81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9A8EA0"/>
                </a:solidFill>
                <a:latin typeface="Montserrat"/>
                <a:ea typeface="Montserrat"/>
                <a:cs typeface="Montserrat"/>
              </a:defRPr>
            </a:pPr>
            <a:r>
              <a:rPr sz="1125">
                <a:solidFill>
                  <a:srgbClr val="9A8EA0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7920517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1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4991FC-F600-4154-B04D-7CE4FDC5C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2850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Один экран для всего рабочего дня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D7B326-DC62-4CB2-9394-122B67D9F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6E6472"/>
                </a:solidFill>
                <a:latin typeface="Montserrat"/>
                <a:ea typeface="Montserrat"/>
                <a:cs typeface="Montserrat"/>
              </a:defRPr>
            </a:pPr>
            <a:r>
              <a:rPr sz="1350">
                <a:solidFill>
                  <a:srgbClr val="6E6472"/>
                </a:solidFill>
                <a:latin typeface="Montserrat"/>
                <a:ea typeface="Montserrat"/>
                <a:cs typeface="Montserrat"/>
              </a:rPr>
              <a:t>План, карта, график смены и объяснение назначения доступны диспетчеру одновременно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3C1092-C828-47C8-B585-4397501EB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3762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F1725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1F1725"/>
                </a:solidFill>
                <a:latin typeface="Montserrat"/>
                <a:ea typeface="Montserrat"/>
                <a:cs typeface="Montserrat"/>
              </a:rPr>
              <a:t>01</a:t>
            </a:r>
          </a:p>
          <a:p xmlns:a="http://schemas.openxmlformats.org/drawingml/2006/main">
            <a:pPr>
              <a:buNone/>
              <a:defRPr sz="1575" b="1">
                <a:solidFill>
                  <a:srgbClr val="1F1725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1F1725"/>
                </a:solidFill>
                <a:latin typeface="Montserrat"/>
                <a:ea typeface="Montserrat"/>
                <a:cs typeface="Montserrat"/>
              </a:rPr>
              <a:t>Автораспределение с учётом навыков, транспорта, оборудования и времени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9D9B05-B14C-4EE7-833C-AEF05CDF5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00375"/>
            <a:ext cx="37623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F1725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1F1725"/>
                </a:solidFill>
                <a:latin typeface="Montserrat"/>
                <a:ea typeface="Montserrat"/>
                <a:cs typeface="Montserrat"/>
              </a:rPr>
              <a:t>02</a:t>
            </a:r>
          </a:p>
          <a:p xmlns:a="http://schemas.openxmlformats.org/drawingml/2006/main">
            <a:pPr>
              <a:buNone/>
              <a:defRPr sz="1575" b="1">
                <a:solidFill>
                  <a:srgbClr val="1F1725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1F1725"/>
                </a:solidFill>
                <a:latin typeface="Montserrat"/>
                <a:ea typeface="Montserrat"/>
                <a:cs typeface="Montserrat"/>
              </a:rPr>
              <a:t>Маршруты по дорогам, пробег по каждому инженеру и по плану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0800F2-2481-4485-A57A-531E84790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38625"/>
            <a:ext cx="3762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F1725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1F1725"/>
                </a:solidFill>
                <a:latin typeface="Montserrat"/>
                <a:ea typeface="Montserrat"/>
                <a:cs typeface="Montserrat"/>
              </a:rPr>
              <a:t>03</a:t>
            </a:r>
          </a:p>
          <a:p xmlns:a="http://schemas.openxmlformats.org/drawingml/2006/main">
            <a:pPr>
              <a:buNone/>
              <a:defRPr sz="1575" b="1">
                <a:solidFill>
                  <a:srgbClr val="1F1725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1F1725"/>
                </a:solidFill>
                <a:latin typeface="Montserrat"/>
                <a:ea typeface="Montserrat"/>
                <a:cs typeface="Montserrat"/>
              </a:rPr>
              <a:t>Причина назначения или отказа понятным языком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7BEDC7-7810-4E2D-A206-D8259F406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81625"/>
            <a:ext cx="3762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F1725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1F1725"/>
                </a:solidFill>
                <a:latin typeface="Montserrat"/>
                <a:ea typeface="Montserrat"/>
                <a:cs typeface="Montserrat"/>
              </a:rPr>
              <a:t>04</a:t>
            </a:r>
          </a:p>
          <a:p xmlns:a="http://schemas.openxmlformats.org/drawingml/2006/main">
            <a:pPr>
              <a:buNone/>
              <a:defRPr sz="1575" b="1">
                <a:solidFill>
                  <a:srgbClr val="1F1725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1F1725"/>
                </a:solidFill>
                <a:latin typeface="Montserrat"/>
                <a:ea typeface="Montserrat"/>
                <a:cs typeface="Montserrat"/>
              </a:rPr>
              <a:t>Срочная заявка и другие события перестраивают оставшуюся смену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e62d62b1f7431c"/>
          <a:srcRect xmlns:a="http://schemas.openxmlformats.org/drawingml/2006/main" l="5073" t="0" r="507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29150" y="1619250"/>
            <a:ext cx="7029450" cy="4400550"/>
          </a:xfrm>
          <a:prstGeom xmlns:a="http://schemas.openxmlformats.org/drawingml/2006/main" prst="roundRect">
            <a:avLst>
              <a:gd name="adj" fmla="val 259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8D6790-1085-4DC3-8B08-9773DF887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81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9A8EA0"/>
                </a:solidFill>
                <a:latin typeface="Montserrat"/>
                <a:ea typeface="Montserrat"/>
                <a:cs typeface="Montserrat"/>
              </a:defRPr>
            </a:pPr>
            <a:r>
              <a:rPr sz="1125">
                <a:solidFill>
                  <a:srgbClr val="9A8EA0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0863703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816253-38AD-46F2-93BC-173FFC21E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2850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Открытый VRPTW с совместимостью «заявка — инженер»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9497A8-9405-478B-9A6E-F656BD568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6E6472"/>
                </a:solidFill>
                <a:latin typeface="Montserrat"/>
                <a:ea typeface="Montserrat"/>
                <a:cs typeface="Montserrat"/>
              </a:defRPr>
            </a:pPr>
            <a:r>
              <a:rPr sz="1350">
                <a:solidFill>
                  <a:srgbClr val="6E6472"/>
                </a:solidFill>
                <a:latin typeface="Montserrat"/>
                <a:ea typeface="Montserrat"/>
                <a:cs typeface="Montserrat"/>
              </a:rPr>
              <a:t>Цель сравнивается лексикографически: приоритет заявок, число инженеров, время в пути, пробег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82801B-42B8-49E5-835B-B07BCFCEC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05000"/>
            <a:ext cx="133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75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375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C56BFB-C75D-44C9-B1A2-D0C6A482F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2415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F1725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1F1725"/>
                </a:solidFill>
                <a:latin typeface="Montserrat"/>
                <a:ea typeface="Montserrat"/>
                <a:cs typeface="Montserrat"/>
              </a:rPr>
              <a:t>Входной снимок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6C2C5F-61FA-4676-BA67-7485C770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76625"/>
            <a:ext cx="2333625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6E6472"/>
                </a:solidFill>
                <a:latin typeface="Montserrat"/>
                <a:ea typeface="Montserrat"/>
                <a:cs typeface="Montserrat"/>
              </a:defRPr>
            </a:pPr>
            <a:r>
              <a:rPr sz="1350">
                <a:solidFill>
                  <a:srgbClr val="6E6472"/>
                </a:solidFill>
                <a:latin typeface="Montserrat"/>
                <a:ea typeface="Montserrat"/>
                <a:cs typeface="Montserrat"/>
              </a:rPr>
              <a:t>Заявки, инженеры, смены, временные окна и направленная матрица поездок.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CF3710-4104-4BAF-A32B-B0C7FDFC0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905000"/>
            <a:ext cx="133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750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3750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BDC409-02A1-4FEE-893B-CA26D6A04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72415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F1725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1F1725"/>
                </a:solidFill>
                <a:latin typeface="Montserrat"/>
                <a:ea typeface="Montserrat"/>
                <a:cs typeface="Montserrat"/>
              </a:rPr>
              <a:t>Проверка допустимости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24A8B3-A013-4367-93DF-6933D7DC5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476625"/>
            <a:ext cx="2333625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6E6472"/>
                </a:solidFill>
                <a:latin typeface="Montserrat"/>
                <a:ea typeface="Montserrat"/>
                <a:cs typeface="Montserrat"/>
              </a:defRPr>
            </a:pPr>
            <a:r>
              <a:rPr sz="1350">
                <a:solidFill>
                  <a:srgbClr val="6E6472"/>
                </a:solidFill>
                <a:latin typeface="Montserrat"/>
                <a:ea typeface="Montserrat"/>
                <a:cs typeface="Montserrat"/>
              </a:rPr>
              <a:t>Навыки, транспорт, оборудование, ручная фиксация, окно начала и конец смены.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78335C-925B-4527-8ACD-351AF03AD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905000"/>
            <a:ext cx="133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75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375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FB95A1-196F-4E5B-BD99-C59961728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2415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F1725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1F1725"/>
                </a:solidFill>
                <a:latin typeface="Montserrat"/>
                <a:ea typeface="Montserrat"/>
                <a:cs typeface="Montserrat"/>
              </a:rPr>
              <a:t>Оптимизация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FB882E-227B-4C7C-AE6D-60377E1FC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76625"/>
            <a:ext cx="2333625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6E6472"/>
                </a:solidFill>
                <a:latin typeface="Montserrat"/>
                <a:ea typeface="Montserrat"/>
                <a:cs typeface="Montserrat"/>
              </a:defRPr>
            </a:pPr>
            <a:r>
              <a:rPr sz="1350">
                <a:solidFill>
                  <a:srgbClr val="6E6472"/>
                </a:solidFill>
                <a:latin typeface="Montserrat"/>
                <a:ea typeface="Montserrat"/>
                <a:cs typeface="Montserrat"/>
              </a:rPr>
              <a:t>OR-Tools Routing, бюджет около 5 секунд. Greedy и local search работают как безопасный fallback.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AB4D98-27CB-4077-A92A-4BE24BE23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905000"/>
            <a:ext cx="133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750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3750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80EDB1-93E3-4F5B-B09C-F510987B9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72415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F1725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1F1725"/>
                </a:solidFill>
                <a:latin typeface="Montserrat"/>
                <a:ea typeface="Montserrat"/>
                <a:cs typeface="Montserrat"/>
              </a:rPr>
              <a:t>Проверяемый результат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F1FE47-C4E4-4BE7-9D5B-F80B8B17E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76625"/>
            <a:ext cx="2333625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6E6472"/>
                </a:solidFill>
                <a:latin typeface="Montserrat"/>
                <a:ea typeface="Montserrat"/>
                <a:cs typeface="Montserrat"/>
              </a:defRPr>
            </a:pPr>
            <a:r>
              <a:rPr sz="1350">
                <a:solidFill>
                  <a:srgbClr val="6E6472"/>
                </a:solidFill>
                <a:latin typeface="Montserrat"/>
                <a:ea typeface="Montserrat"/>
                <a:cs typeface="Montserrat"/>
              </a:rPr>
              <a:t>Маршруты повторно симулируются. Неназначенная заявка получает стабильный код и понятную причину.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21F217-6B54-4671-981F-39DEF4A6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817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Открытый маршрут: возвращение в стартовую точку после последней заявки не добавляется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E58C93-D7F8-4E28-BE3C-58D7DFD5D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81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9A8EA0"/>
                </a:solidFill>
                <a:latin typeface="Montserrat"/>
                <a:ea typeface="Montserrat"/>
                <a:cs typeface="Montserrat"/>
              </a:defRPr>
            </a:pPr>
            <a:r>
              <a:rPr sz="1125">
                <a:solidFill>
                  <a:srgbClr val="9A8EA0"/>
                </a:solidFill>
                <a:latin typeface="Montserrat"/>
                <a:ea typeface="Montserrat"/>
                <a:cs typeface="Montserrat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869799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1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915ED0-CBCF-4871-A2C8-D4F58BF40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2850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Решение прошло серию воспроизводимых проверок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2FD400-18BE-430D-A279-F3C733836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6E6472"/>
                </a:solidFill>
                <a:latin typeface="Montserrat"/>
                <a:ea typeface="Montserrat"/>
                <a:cs typeface="Montserrat"/>
              </a:defRPr>
            </a:pPr>
            <a:r>
              <a:rPr sz="1350">
                <a:solidFill>
                  <a:srgbClr val="6E6472"/>
                </a:solidFill>
                <a:latin typeface="Montserrat"/>
                <a:ea typeface="Montserrat"/>
                <a:cs typeface="Montserrat"/>
              </a:rPr>
              <a:t>Каждый план проверяет независимый валидатор, а экспериментальные идеи попадают в production только после заданного порога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9C5FD9-B3C3-4FD8-9D22-9CDBFD62A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2762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35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435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24 / 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18A557-243C-4741-8747-3CCE2E1E0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1F1725"/>
                </a:solidFill>
                <a:latin typeface="Montserrat"/>
                <a:ea typeface="Montserrat"/>
                <a:cs typeface="Montserrat"/>
              </a:defRPr>
            </a:pPr>
            <a:r>
              <a:rPr sz="1650">
                <a:solidFill>
                  <a:srgbClr val="1F1725"/>
                </a:solidFill>
                <a:latin typeface="Montserrat"/>
                <a:ea typeface="Montserrat"/>
                <a:cs typeface="Montserrat"/>
              </a:rPr>
              <a:t>строгие победы OR-Tools над greedy на stress-сценариях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C7E4F2-6E20-4F52-A0A3-EDDCDCA4E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43125"/>
            <a:ext cx="295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350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4350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98 / 100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DAD760-78A1-4CC3-B309-F823CCE17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048000"/>
            <a:ext cx="30003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1F1725"/>
                </a:solidFill>
                <a:latin typeface="Montserrat"/>
                <a:ea typeface="Montserrat"/>
                <a:cs typeface="Montserrat"/>
              </a:defRPr>
            </a:pPr>
            <a:r>
              <a:rPr sz="1650">
                <a:solidFill>
                  <a:srgbClr val="1F1725"/>
                </a:solidFill>
                <a:latin typeface="Montserrat"/>
                <a:ea typeface="Montserrat"/>
                <a:cs typeface="Montserrat"/>
              </a:rPr>
              <a:t>побед local search над greedy, медиана пробега ниже на 11,9%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54D009-C0E6-4CAD-921F-B6EC5297F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143125"/>
            <a:ext cx="314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350" b="1">
                <a:solidFill>
                  <a:srgbClr val="7E77CC"/>
                </a:solidFill>
                <a:latin typeface="Montserrat"/>
                <a:ea typeface="Montserrat"/>
                <a:cs typeface="Montserrat"/>
              </a:defRPr>
            </a:pPr>
            <a:r>
              <a:rPr sz="4350" b="1">
                <a:solidFill>
                  <a:srgbClr val="7E77CC"/>
                </a:solidFill>
                <a:latin typeface="Montserrat"/>
                <a:ea typeface="Montserrat"/>
                <a:cs typeface="Montserrat"/>
              </a:rPr>
              <a:t>342 / 342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CC4E61-0E42-4712-8668-09B163D7D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0480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1F1725"/>
                </a:solidFill>
                <a:latin typeface="Montserrat"/>
                <a:ea typeface="Montserrat"/>
                <a:cs typeface="Montserrat"/>
              </a:defRPr>
            </a:pPr>
            <a:r>
              <a:rPr sz="1650">
                <a:solidFill>
                  <a:srgbClr val="1F1725"/>
                </a:solidFill>
                <a:latin typeface="Montserrat"/>
                <a:ea typeface="Montserrat"/>
                <a:cs typeface="Montserrat"/>
              </a:rPr>
              <a:t>искажения плана обнаружил независимый валидатор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50549D-8C6A-418A-AE9F-D92BB1632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F1725"/>
                </a:solidFill>
                <a:latin typeface="Montserrat"/>
                <a:ea typeface="Montserrat"/>
                <a:cs typeface="Montserrat"/>
              </a:defRPr>
            </a:pPr>
            <a:r>
              <a:rPr sz="3000" b="1">
                <a:solidFill>
                  <a:srgbClr val="1F1725"/>
                </a:solidFill>
                <a:latin typeface="Montserrat"/>
                <a:ea typeface="Montserrat"/>
                <a:cs typeface="Montserrat"/>
              </a:rPr>
              <a:t>H001–H047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D3870A-05A3-40F1-9954-3D963642F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905375"/>
            <a:ext cx="7810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>
                <a:solidFill>
                  <a:srgbClr val="6E6472"/>
                </a:solidFill>
                <a:latin typeface="Montserrat"/>
                <a:ea typeface="Montserrat"/>
                <a:cs typeface="Montserrat"/>
              </a:defRPr>
            </a:pPr>
            <a:r>
              <a:rPr sz="1725">
                <a:solidFill>
                  <a:srgbClr val="6E6472"/>
                </a:solidFill>
                <a:latin typeface="Montserrat"/>
                <a:ea typeface="Montserrat"/>
                <a:cs typeface="Montserrat"/>
              </a:rPr>
              <a:t>Журнал гипотез хранит постановку, порог, код эксперимента и вердикт. Неустойчивые улучшения не включаются в основной алгоритм.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1D1E77-3AB5-47C2-A34F-D3E2AB66C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81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9A8EA0"/>
                </a:solidFill>
                <a:latin typeface="Montserrat"/>
                <a:ea typeface="Montserrat"/>
                <a:cs typeface="Montserrat"/>
              </a:defRPr>
            </a:pPr>
            <a:r>
              <a:rPr sz="1125">
                <a:solidFill>
                  <a:srgbClr val="9A8EA0"/>
                </a:solidFill>
                <a:latin typeface="Montserrat"/>
                <a:ea typeface="Montserrat"/>
                <a:cs typeface="Montserrat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796973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2A53D3-8A71-46E4-916C-B8412B1C6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2850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Сценарий демонстрации на 5–7 минут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46BAB1-3F5D-4D39-8251-1E50CE31F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6E6472"/>
                </a:solidFill>
                <a:latin typeface="Montserrat"/>
                <a:ea typeface="Montserrat"/>
                <a:cs typeface="Montserrat"/>
              </a:defRPr>
            </a:pPr>
            <a:r>
              <a:rPr sz="1350">
                <a:solidFill>
                  <a:srgbClr val="6E6472"/>
                </a:solidFill>
                <a:latin typeface="Montserrat"/>
                <a:ea typeface="Montserrat"/>
                <a:cs typeface="Montserrat"/>
              </a:rPr>
              <a:t>Live-демо показывает полный цикл от данных до перепланирования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965410-CF29-478A-8FFB-EC9EB6B1B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714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27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C206BA-E48A-4136-9118-7B53A685E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6954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F1725"/>
                </a:solidFill>
                <a:latin typeface="Montserrat"/>
                <a:ea typeface="Montserrat"/>
                <a:cs typeface="Montserrat"/>
              </a:defRPr>
            </a:pPr>
            <a:r>
              <a:rPr sz="1725" b="1">
                <a:solidFill>
                  <a:srgbClr val="1F1725"/>
                </a:solidFill>
                <a:latin typeface="Montserrat"/>
                <a:ea typeface="Montserrat"/>
                <a:cs typeface="Montserrat"/>
              </a:rPr>
              <a:t>Открыть тестовый набор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683ADA-5DD6-427B-8FF6-3800A6357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143125"/>
            <a:ext cx="4524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6E6472"/>
                </a:solidFill>
                <a:latin typeface="Montserrat"/>
                <a:ea typeface="Montserrat"/>
                <a:cs typeface="Montserrat"/>
              </a:defRPr>
            </a:pPr>
            <a:r>
              <a:rPr sz="1275">
                <a:solidFill>
                  <a:srgbClr val="6E6472"/>
                </a:solidFill>
                <a:latin typeface="Montserrat"/>
                <a:ea typeface="Montserrat"/>
                <a:cs typeface="Montserrat"/>
              </a:rPr>
              <a:t>Показать заявки, инженеров и исходные ограничения.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0886DE-4F93-4F3B-B803-00A23E712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62300"/>
            <a:ext cx="714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2700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EC3AA2-CB53-4C0E-86EB-7343026DD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1623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F1725"/>
                </a:solidFill>
                <a:latin typeface="Montserrat"/>
                <a:ea typeface="Montserrat"/>
                <a:cs typeface="Montserrat"/>
              </a:defRPr>
            </a:pPr>
            <a:r>
              <a:rPr sz="1725" b="1">
                <a:solidFill>
                  <a:srgbClr val="1F1725"/>
                </a:solidFill>
                <a:latin typeface="Montserrat"/>
                <a:ea typeface="Montserrat"/>
                <a:cs typeface="Montserrat"/>
              </a:rPr>
              <a:t>Рассчитать план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B0B27E-140A-434E-819D-B3D7D0C72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09975"/>
            <a:ext cx="4524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6E6472"/>
                </a:solidFill>
                <a:latin typeface="Montserrat"/>
                <a:ea typeface="Montserrat"/>
                <a:cs typeface="Montserrat"/>
              </a:defRPr>
            </a:pPr>
            <a:r>
              <a:rPr sz="1275">
                <a:solidFill>
                  <a:srgbClr val="6E6472"/>
                </a:solidFill>
                <a:latin typeface="Montserrat"/>
                <a:ea typeface="Montserrat"/>
                <a:cs typeface="Montserrat"/>
              </a:rPr>
              <a:t>Сверить назначение, число инженеров и суммарный пробег.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F06F3F-E6C4-4F26-8E2F-2F2A48BB5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29150"/>
            <a:ext cx="714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27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059231-CDB7-421E-9803-F8A8752B8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291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F1725"/>
                </a:solidFill>
                <a:latin typeface="Montserrat"/>
                <a:ea typeface="Montserrat"/>
                <a:cs typeface="Montserrat"/>
              </a:defRPr>
            </a:pPr>
            <a:r>
              <a:rPr sz="1725" b="1">
                <a:solidFill>
                  <a:srgbClr val="1F1725"/>
                </a:solidFill>
                <a:latin typeface="Montserrat"/>
                <a:ea typeface="Montserrat"/>
                <a:cs typeface="Montserrat"/>
              </a:rPr>
              <a:t>Показать карту и график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9ACFD6-184D-4442-BFED-4ED9973C8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76825"/>
            <a:ext cx="4524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6E6472"/>
                </a:solidFill>
                <a:latin typeface="Montserrat"/>
                <a:ea typeface="Montserrat"/>
                <a:cs typeface="Montserrat"/>
              </a:defRPr>
            </a:pPr>
            <a:r>
              <a:rPr sz="1275">
                <a:solidFill>
                  <a:srgbClr val="6E6472"/>
                </a:solidFill>
                <a:latin typeface="Montserrat"/>
                <a:ea typeface="Montserrat"/>
                <a:cs typeface="Montserrat"/>
              </a:rPr>
              <a:t>Выбрать инженера и пройти по порядку его работ.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982544-8B1D-45CA-BD0E-EEADF3B9F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95450"/>
            <a:ext cx="714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2700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8998D3-FFA7-4C04-99AE-A21FA09DF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6954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F1725"/>
                </a:solidFill>
                <a:latin typeface="Montserrat"/>
                <a:ea typeface="Montserrat"/>
                <a:cs typeface="Montserrat"/>
              </a:defRPr>
            </a:pPr>
            <a:r>
              <a:rPr sz="1725" b="1">
                <a:solidFill>
                  <a:srgbClr val="1F1725"/>
                </a:solidFill>
                <a:latin typeface="Montserrat"/>
                <a:ea typeface="Montserrat"/>
                <a:cs typeface="Montserrat"/>
              </a:rPr>
              <a:t>Открыть заявку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601FA0-143A-4136-AA81-388C6FEAF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143125"/>
            <a:ext cx="4524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6E6472"/>
                </a:solidFill>
                <a:latin typeface="Montserrat"/>
                <a:ea typeface="Montserrat"/>
                <a:cs typeface="Montserrat"/>
              </a:defRPr>
            </a:pPr>
            <a:r>
              <a:rPr sz="1275">
                <a:solidFill>
                  <a:srgbClr val="6E6472"/>
                </a:solidFill>
                <a:latin typeface="Montserrat"/>
                <a:ea typeface="Montserrat"/>
                <a:cs typeface="Montserrat"/>
              </a:rPr>
              <a:t>Показать объяснение назначения или причину отказа.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31676B-7166-4E59-8DB6-0B6863FC3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62300"/>
            <a:ext cx="714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27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2CFAEF-DBC4-490D-BDC1-1EEDA15DB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623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F1725"/>
                </a:solidFill>
                <a:latin typeface="Montserrat"/>
                <a:ea typeface="Montserrat"/>
                <a:cs typeface="Montserrat"/>
              </a:defRPr>
            </a:pPr>
            <a:r>
              <a:rPr sz="1725" b="1">
                <a:solidFill>
                  <a:srgbClr val="1F1725"/>
                </a:solidFill>
                <a:latin typeface="Montserrat"/>
                <a:ea typeface="Montserrat"/>
                <a:cs typeface="Montserrat"/>
              </a:rPr>
              <a:t>Добавить срочную заявку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BCA360-D65E-40A9-AB63-CB27ECF22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609975"/>
            <a:ext cx="4524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6E6472"/>
                </a:solidFill>
                <a:latin typeface="Montserrat"/>
                <a:ea typeface="Montserrat"/>
                <a:cs typeface="Montserrat"/>
              </a:defRPr>
            </a:pPr>
            <a:r>
              <a:rPr sz="1275">
                <a:solidFill>
                  <a:srgbClr val="6E6472"/>
                </a:solidFill>
                <a:latin typeface="Montserrat"/>
                <a:ea typeface="Montserrat"/>
                <a:cs typeface="Montserrat"/>
              </a:rPr>
              <a:t>Перестроить оставшуюся смену и открыть список изменений.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82507D-4D58-494E-9121-A49126C6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29150"/>
            <a:ext cx="714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2700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06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12CC59-0FF9-47ED-9C24-966D652F9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6291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F1725"/>
                </a:solidFill>
                <a:latin typeface="Montserrat"/>
                <a:ea typeface="Montserrat"/>
                <a:cs typeface="Montserrat"/>
              </a:defRPr>
            </a:pPr>
            <a:r>
              <a:rPr sz="1725" b="1">
                <a:solidFill>
                  <a:srgbClr val="1F1725"/>
                </a:solidFill>
                <a:latin typeface="Montserrat"/>
                <a:ea typeface="Montserrat"/>
                <a:cs typeface="Montserrat"/>
              </a:rPr>
              <a:t>Сравнить с базовым вариантом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53A61F-D429-406A-B8F2-B3773239B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076825"/>
            <a:ext cx="4524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6E6472"/>
                </a:solidFill>
                <a:latin typeface="Montserrat"/>
                <a:ea typeface="Montserrat"/>
                <a:cs typeface="Montserrat"/>
              </a:defRPr>
            </a:pPr>
            <a:r>
              <a:rPr sz="1275">
                <a:solidFill>
                  <a:srgbClr val="6E6472"/>
                </a:solidFill>
                <a:latin typeface="Montserrat"/>
                <a:ea typeface="Montserrat"/>
                <a:cs typeface="Montserrat"/>
              </a:rPr>
              <a:t>Зафиксировать число инженеров и пробег по каждому маршруту.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33C7ED-EFDF-447A-8754-AD77874BF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81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9A8EA0"/>
                </a:solidFill>
                <a:latin typeface="Montserrat"/>
                <a:ea typeface="Montserrat"/>
                <a:cs typeface="Montserrat"/>
              </a:defRPr>
            </a:pPr>
            <a:r>
              <a:rPr sz="1125">
                <a:solidFill>
                  <a:srgbClr val="9A8EA0"/>
                </a:solidFill>
                <a:latin typeface="Montserrat"/>
                <a:ea typeface="Montserrat"/>
                <a:cs typeface="Montserrat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001008951"/>
      </p:ext>
    </p:extLst>
  </p:cSld>
</p:sld>
</file>

<file path=ppt/slides/slide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c87d9fca49c94711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13BA75DB-8EAE-769C-2B17-FF7CD6EE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71800"/>
            <a:ext cx="6456363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CEE4">
              <a:alpha val="49804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Рисунок 1"/>
          <p:cNvPicPr>
            <a:picLocks xmlns:a="http://schemas.openxmlformats.org/drawingml/2006/main" noChangeAspect="1"/>
          </p:cNvPicPr>
          <p:nvPr>
            <p:ph type="pic" idx="10"/>
          </p:nvPr>
        </p:nvPicPr>
        <p:blipFill>
          <a:blip xmlns:r="http://schemas.openxmlformats.org/officeDocument/2006/relationships" xmlns:a="http://schemas.openxmlformats.org/drawingml/2006/main" r:embed="R2723d6a3770c4d43"/>
          <a:srcRect xmlns:a="http://schemas.openxmlformats.org/drawingml/2006/main" l="0" t="9086" r="0" b="90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335267"/>
            <a:ext cx="6456363" cy="2971784"/>
          </a:xfrm>
          <a:prstGeom xmlns:a="http://schemas.openxmlformats.org/drawingml/2006/main" prst="rect">
            <a:avLst/>
          </a:prstGeom>
        </p:spPr>
      </p:pic>
      <p:sp>
        <p:nvSpPr>
          <p:cNvPr id="6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32D7670A-4313-AE7C-DDA9-134ADC224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4" y="2303118"/>
            <a:ext cx="4945564" cy="6686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600" b="1">
                <a:solidFill>
                  <a:schemeClr val="accent5"/>
                </a:solidFill>
              </a:rPr>
              <a:t>Краткое описание решения:</a:t>
            </a:r>
          </a:p>
        </p:txBody>
      </p:sp>
      <p:sp>
        <p:nvSpPr>
          <p:cNvPr id="8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D8A04531-793D-BF7A-34F3-615C18C06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6606" y="4876070"/>
            <a:ext cx="4945565" cy="89003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9484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Font typeface="Wingdings"/>
              <a:buNone/>
            </a:pPr>
            <a:r>
              <a:rPr>
                <a:solidFill>
                  <a:schemeClr val="tx1"/>
                </a:solidFill>
              </a:rPr>
              <a:t>Один контракт данных связывает солвер, карту и объяснения. Дорожная матрица отделена от оптимизации, а каждое назначение повторно проверяет общий симулятор.</a:t>
            </a:r>
          </a:p>
        </p:txBody>
      </p:sp>
      <p:sp>
        <p:nvSpPr>
          <p:cNvPr id="14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A66B04C6-E9BA-5BA2-7A5C-84468D491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3883009"/>
            <a:ext cx="5629858" cy="23990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chemeClr val="tx1"/>
                </a:solidFill>
              </a:rPr>
              <a:t>Команда: «Маршрут построен!»</a:t>
            </a:r>
          </a:p>
          <a:p xmlns:a="http://schemas.openxmlformats.org/drawingml/2006/main"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chemeClr val="tx1"/>
                </a:solidFill>
              </a:rPr>
              <a:t>Ростислав Косюк — full-stack разработчик</a:t>
            </a:r>
          </a:p>
          <a:p xmlns:a="http://schemas.openxmlformats.org/drawingml/2006/main"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chemeClr val="tx1"/>
                </a:solidFill>
              </a:rPr>
              <a:t>Михаил Михайлов — data scientist</a:t>
            </a:r>
          </a:p>
          <a:p xmlns:a="http://schemas.openxmlformats.org/drawingml/2006/main"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i="1">
                <a:solidFill>
                  <a:schemeClr val="tx1"/>
                </a:solidFill>
              </a:rPr>
              <a:t>Участников: 2</a:t>
            </a:r>
          </a:p>
          <a:p xmlns:a="http://schemas.openxmlformats.org/drawingml/2006/main"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i="1">
                <a:solidFill>
                  <a:schemeClr val="tx1"/>
                </a:solidFill>
              </a:rPr>
              <a:t>Компетенции: продуктовая разработка и оптимизация маршрутов</a:t>
            </a:r>
          </a:p>
        </p:txBody>
      </p:sp>
      <p:sp>
        <p:nvSpPr>
          <p:cNvPr id="15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835E7A1E-FFEA-1C2F-65E6-56769FEF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3484785"/>
            <a:ext cx="2990173" cy="35393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600" b="1">
                <a:solidFill>
                  <a:schemeClr val="accent5"/>
                </a:solidFill>
              </a:rPr>
              <a:t>О команде</a:t>
            </a:r>
          </a:p>
        </p:txBody>
      </p:sp>
      <p:sp>
        <p:nvSpPr>
          <p:cNvPr id="18" name="Заголовок 6">
            <a:extLst xmlns:a="http://schemas.openxmlformats.org/drawingml/2006/main">
              <a:ext uri="{FF2B5EF4-FFF2-40B4-BE49-F238E27FC236}">
                <a16:creationId xmlns:a16="http://schemas.microsoft.com/office/drawing/2014/main" id="{7CB04CCE-DD7B-2901-A280-8E4E079451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19903" y="1039236"/>
            <a:ext cx="3636703" cy="10151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КОМАНДА И РЕШЕНИЕ</a:t>
            </a:r>
            <a:endParaRPr sz="2400">
              <a:solidFill>
                <a:schemeClr val="accent5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7" name="Прямая соединительная линия 6">
            <a:extLst xmlns:a="http://schemas.openxmlformats.org/drawingml/2006/main">
              <a:ext uri="{FF2B5EF4-FFF2-40B4-BE49-F238E27FC236}">
                <a16:creationId xmlns:a16="http://schemas.microsoft.com/office/drawing/2014/main" id="{53E5CAD7-AA4D-49EF-888C-15AE3D1E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0774" y="2240031"/>
            <a:ext cx="4884824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5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Прямая соединительная линия 15">
            <a:extLst xmlns:a="http://schemas.openxmlformats.org/drawingml/2006/main">
              <a:ext uri="{FF2B5EF4-FFF2-40B4-BE49-F238E27FC236}">
                <a16:creationId xmlns:a16="http://schemas.microsoft.com/office/drawing/2014/main" id="{1CB45556-5219-472D-AC1A-96C817B10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7347" y="4437879"/>
            <a:ext cx="4884824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5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17" name="Прямая соединительная линия 16">
            <a:extLst xmlns:a="http://schemas.openxmlformats.org/drawingml/2006/main">
              <a:ext uri="{FF2B5EF4-FFF2-40B4-BE49-F238E27FC236}">
                <a16:creationId xmlns:a16="http://schemas.microsoft.com/office/drawing/2014/main" id="{A0F4C598-3782-40BE-B23E-1ECF8F6A1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833" y="3448639"/>
            <a:ext cx="5700167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5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D556F1CE-69ED-AE0F-D388-9032B66CC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4" y="4541737"/>
            <a:ext cx="4945564" cy="6686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600" b="1">
                <a:solidFill>
                  <a:schemeClr val="accent5"/>
                </a:solidFill>
              </a:rPr>
              <a:t>Уникальность решения:</a:t>
            </a:r>
          </a:p>
        </p:txBody>
      </p:sp>
      <p:sp>
        <p:nvSpPr>
          <p:cNvPr id="5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6811D897-A2AE-AA09-747E-1B90C43B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8027" y="2619903"/>
            <a:ext cx="4945565" cy="89003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94588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Font typeface="Wingdings"/>
              <a:buNone/>
            </a:pPr>
            <a:r>
              <a:rPr>
                <a:solidFill>
                  <a:schemeClr val="tx1"/>
                </a:solidFill>
              </a:rPr>
              <a:t>Сервис автоматически распределяет заявки, строит порядок визитов и показывает план на карте и графике смены. После события пересчитывает оставшуюся часть дня.</a:t>
            </a:r>
          </a:p>
        </p:txBody>
      </p:sp>
      <p:sp>
        <p:nvSpPr>
          <p:cNvPr id="10" name="Номер слайда 35">
            <a:extLst xmlns:a="http://schemas.openxmlformats.org/drawingml/2006/main">
              <a:ext uri="{FF2B5EF4-FFF2-40B4-BE49-F238E27FC236}">
                <a16:creationId xmlns:a16="http://schemas.microsoft.com/office/drawing/2014/main" id="{75D9ACE7-3A6B-03B3-9BA4-502350CBA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110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220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329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439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5549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2658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199765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6877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fld id="{52DCC5B9-D646-4B76-891F-6FF4E74E9CB4}" type="slidenum">
              <a:rPr sz="1200">
                <a:solidFill>
                  <a:schemeClr val="accent5"/>
                </a:solidFill>
              </a:rPr>
              <a:t>8</a:t>
            </a:fld>
            <a:endParaRPr sz="120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9778944"/>
      </p:ext>
    </p:extLst>
  </p:cSld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3adb83af5aa342ff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Скругленный прямоугольник 55">
            <a:extLst xmlns:a="http://schemas.openxmlformats.org/drawingml/2006/main">
              <a:ext uri="{FF2B5EF4-FFF2-40B4-BE49-F238E27FC236}">
                <a16:creationId xmlns:a16="http://schemas.microsoft.com/office/drawing/2014/main" id="{635392F3-78F4-5585-E25E-CDBEA7E9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394" y="1522006"/>
            <a:ext cx="2192713" cy="4834352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57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9398668D-F141-1433-7B1B-1518BC470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3678" y="4250028"/>
            <a:ext cx="1894354" cy="162461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spcBef>
                <a:spcPts val="60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Data scientist</a:t>
            </a:r>
          </a:p>
          <a:p xmlns:a="http://schemas.openxmlformats.org/drawingml/2006/main">
            <a:pPr>
              <a:spcBef>
                <a:spcPts val="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@Mi_Mihh</a:t>
            </a:r>
          </a:p>
          <a:p xmlns:a="http://schemas.openxmlformats.org/drawingml/2006/main">
            <a:pPr>
              <a:spcBef>
                <a:spcPts val="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Математическая модель</a:t>
            </a:r>
          </a:p>
          <a:p xmlns:a="http://schemas.openxmlformats.org/drawingml/2006/main">
            <a:pPr>
              <a:spcBef>
                <a:spcPts val="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Оптимизация маршрутов</a:t>
            </a:r>
            <a:endParaRPr sz="1200">
              <a:solidFill>
                <a:schemeClr val="tx1"/>
              </a:solidFill>
            </a:endParaRPr>
          </a:p>
          <a:p xmlns:a="http://schemas.openxmlformats.org/drawingml/2006/main">
            <a:pPr>
              <a:spcBef>
                <a:spcPts val="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Валидация экспериментов</a:t>
            </a:r>
            <a:endParaRPr sz="1200">
              <a:solidFill>
                <a:schemeClr val="tx1"/>
              </a:solidFill>
            </a:endParaRPr>
          </a:p>
        </p:txBody>
      </p:sp>
      <p:sp>
        <p:nvSpPr>
          <p:cNvPr id="58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8D1E397B-73F6-7777-9CD1-12E439862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3677" y="3622118"/>
            <a:ext cx="1722566" cy="62791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600" b="1">
                <a:solidFill>
                  <a:schemeClr val="accent5"/>
                </a:solidFill>
              </a:rPr>
              <a:t>Михаил Михайлов</a:t>
            </a:r>
          </a:p>
        </p:txBody>
      </p:sp>
      <p:sp>
        <p:nvSpPr>
          <p:cNvPr id="17" name="Скругленный прямоугольник 16">
            <a:extLst xmlns:a="http://schemas.openxmlformats.org/drawingml/2006/main">
              <a:ext uri="{FF2B5EF4-FFF2-40B4-BE49-F238E27FC236}">
                <a16:creationId xmlns:a16="http://schemas.microsoft.com/office/drawing/2014/main" id="{FC0035EA-559C-020F-D4A8-B4146A26E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6" y="1522006"/>
            <a:ext cx="2192713" cy="4834352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3" name="Скругленный прямоугольник 12">
            <a:extLst xmlns:a="http://schemas.openxmlformats.org/drawingml/2006/main">
              <a:ext uri="{FF2B5EF4-FFF2-40B4-BE49-F238E27FC236}">
                <a16:creationId xmlns:a16="http://schemas.microsoft.com/office/drawing/2014/main" id="{4F9EEB10-D234-64E3-5744-B3981F11A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952656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 xmlns:a="http://schemas.openxmlformats.org/drawingml/2006/main">
              <a:ext uri="{FF2B5EF4-FFF2-40B4-BE49-F238E27FC236}">
                <a16:creationId xmlns:a16="http://schemas.microsoft.com/office/drawing/2014/main" id="{ADFA4405-6EC1-3A52-92A7-2CA2130BB2B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CC5B9-D646-4B76-891F-6FF4E74E9CB4}" type="slidenum">
              <a:rPr>
                <a:solidFill>
                  <a:schemeClr val="bg1"/>
                </a:solidFill>
              </a:rPr>
              <a:t>9</a:t>
            </a:fld>
            <a:endParaRPr>
              <a:solidFill>
                <a:schemeClr val="bg1"/>
              </a:solidFill>
            </a:endParaRPr>
          </a:p>
        </p:txBody>
      </p:sp>
      <p:pic>
        <p:nvPicPr>
          <p:cNvPr id="67" name="Рисунок 1"/>
          <p:cNvPicPr>
            <a:picLocks xmlns:a="http://schemas.openxmlformats.org/drawingml/2006/main" noChangeAspect="1"/>
          </p:cNvPicPr>
          <p:nvPr>
            <p:ph type="pic" idx="4294967295"/>
          </p:nvPr>
        </p:nvPicPr>
        <p:blipFill>
          <a:blip xmlns:r="http://schemas.openxmlformats.org/officeDocument/2006/relationships" xmlns:a="http://schemas.openxmlformats.org/drawingml/2006/main" r:embed="Rf331e8c7559140dc"/>
          <a:srcRect xmlns:a="http://schemas.openxmlformats.org/drawingml/2006/main" l="8000" t="2000" r="8000" b="24000"/>
          <a:stretch xmlns:a="http://schemas.openxmlformats.org/drawingml/2006/main"/>
        </p:blipFill>
        <p:spPr>
          <a:xfrm xmlns:a="http://schemas.openxmlformats.org/drawingml/2006/main">
            <a:off x="581397" y="1816054"/>
            <a:ext cx="1722566" cy="1552901"/>
          </a:xfrm>
          <a:prstGeom xmlns:a="http://schemas.openxmlformats.org/drawingml/2006/main" prst="rect">
            <a:avLst/>
          </a:prstGeom>
        </p:spPr>
      </p:pic>
      <p:pic>
        <p:nvPicPr>
          <p:cNvPr id="68" name="Рисунок 2"/>
          <p:cNvPicPr>
            <a:picLocks xmlns:a="http://schemas.openxmlformats.org/drawingml/2006/main" noChangeAspect="1"/>
          </p:cNvPicPr>
          <p:nvPr>
            <p:ph type="pic" idx="4294967295"/>
          </p:nvPr>
        </p:nvPicPr>
        <p:blipFill>
          <a:blip xmlns:r="http://schemas.openxmlformats.org/officeDocument/2006/relationships" xmlns:a="http://schemas.openxmlformats.org/drawingml/2006/main" r:embed="R25fedc7332d9438f"/>
          <a:srcRect xmlns:a="http://schemas.openxmlformats.org/drawingml/2006/main" l="18000" t="4000" r="18000" b="54000"/>
          <a:stretch xmlns:a="http://schemas.openxmlformats.org/drawingml/2006/main"/>
        </p:blipFill>
        <p:spPr>
          <a:xfrm xmlns:a="http://schemas.openxmlformats.org/drawingml/2006/main">
            <a:off x="2886467" y="1826554"/>
            <a:ext cx="1722566" cy="1542401"/>
          </a:xfrm>
          <a:prstGeom xmlns:a="http://schemas.openxmlformats.org/drawingml/2006/main" prst="rect">
            <a:avLst/>
          </a:prstGeom>
        </p:spPr>
      </p:pic>
      <p:sp>
        <p:nvSpPr>
          <p:cNvPr id="7" name="Заголовок 6">
            <a:extLst xmlns:a="http://schemas.openxmlformats.org/drawingml/2006/main">
              <a:ext uri="{FF2B5EF4-FFF2-40B4-BE49-F238E27FC236}">
                <a16:creationId xmlns:a16="http://schemas.microsoft.com/office/drawing/2014/main" id="{A8302BF4-F579-F30C-0D0B-9EC587DE2A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8359" y="449787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СОСТАВ КОМАНДЫ</a:t>
            </a:r>
            <a:endParaRPr>
              <a:latin typeface="+mn-lt"/>
              <a:ea typeface="+mn-lt"/>
              <a:cs typeface="+mn-lt"/>
            </a:endParaRPr>
          </a:p>
        </p:txBody>
      </p:sp>
      <p:sp>
        <p:nvSpPr>
          <p:cNvPr id="9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8392728C-0D28-63FE-46DB-BBDA5226DAE1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518360" y="4250028"/>
            <a:ext cx="1894354" cy="1624612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Bef>
                <a:spcPts val="600"/>
              </a:spcBef>
              <a:spcAft>
                <a:spcPts val="0"/>
              </a:spcAft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Full-stack разработчик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@The_Rostok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Frontend и UX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Backend-интеграция</a:t>
            </a:r>
          </a:p>
        </p:txBody>
      </p:sp>
      <p:sp>
        <p:nvSpPr>
          <p:cNvPr id="15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34A1767C-75B2-E3D4-5057-DD85E6AB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9" y="3622118"/>
            <a:ext cx="1722566" cy="62791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600" b="1">
                <a:solidFill>
                  <a:schemeClr val="accent5"/>
                </a:solidFill>
              </a:rPr>
              <a:t>Ростислав Косюк</a:t>
            </a:r>
          </a:p>
        </p:txBody>
      </p:sp>
    </p:spTree>
    <p:extLst>
      <p:ext uri="{BB962C8B-B14F-4D97-AF65-F5344CB8AC3E}">
        <p14:creationId xmlns:p14="http://schemas.microsoft.com/office/powerpoint/2010/main" val="922147036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a661101770bf4b42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Скругленный 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9376089D-9A77-730A-ADAF-A685C17F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952656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 xmlns:a="http://schemas.openxmlformats.org/drawingml/2006/main">
              <a:ext uri="{FF2B5EF4-FFF2-40B4-BE49-F238E27FC236}">
                <a16:creationId xmlns:a16="http://schemas.microsoft.com/office/drawing/2014/main" id="{74006CB4-BD4D-EF41-3DCA-EDB126B8489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CC5B9-D646-4B76-891F-6FF4E74E9CB4}" type="slidenum">
              <a:rPr>
                <a:solidFill>
                  <a:schemeClr val="accent5"/>
                </a:solidFill>
              </a:rPr>
              <a:t>10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7" name="Заголовок 6">
            <a:extLst xmlns:a="http://schemas.openxmlformats.org/drawingml/2006/main">
              <a:ext uri="{FF2B5EF4-FFF2-40B4-BE49-F238E27FC236}">
                <a16:creationId xmlns:a16="http://schemas.microsoft.com/office/drawing/2014/main" id="{9F7DE1A9-1AD8-0498-5446-8F5D409119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7849" y="449787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ИСТОРИЯ КОМАНДЫ</a:t>
            </a:r>
            <a:endParaRPr>
              <a:latin typeface="+mn-lt"/>
              <a:ea typeface="+mn-lt"/>
              <a:cs typeface="+mn-lt"/>
            </a:endParaRPr>
          </a:p>
        </p:txBody>
      </p:sp>
      <p:sp>
        <p:nvSpPr>
          <p:cNvPr id="37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C7B87D78-5037-F48A-F05C-8E80D4A5A4D0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533607" y="1602273"/>
            <a:ext cx="4425822" cy="934263"/>
          </a:xfrm>
        </p:spPr>
        <p:txBody>
          <a:bodyPr xmlns:a="http://schemas.openxmlformats.org/drawingml/2006/main">
            <a:normAutofit fontScale="98756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>
                <a:solidFill>
                  <a:schemeClr val="tx1"/>
                </a:solidFill>
              </a:rPr>
              <a:t>Начали с базового планировщика и стабильных контрактов данных. Затем усилили алгоритм, добавили карту, перепланирование и рабочий интерфейс диспетчера.</a:t>
            </a:r>
          </a:p>
        </p:txBody>
      </p:sp>
      <p:sp>
        <p:nvSpPr>
          <p:cNvPr id="38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BAD76A99-219B-023F-35AA-74EDFF6A5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607" y="1279645"/>
            <a:ext cx="2990173" cy="35393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b="1">
                <a:solidFill>
                  <a:schemeClr val="accent5"/>
                </a:solidFill>
              </a:rPr>
              <a:t>Как развивался проект</a:t>
            </a:r>
          </a:p>
        </p:txBody>
      </p:sp>
      <p:sp>
        <p:nvSpPr>
          <p:cNvPr id="40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A812662F-49C9-0A37-1671-EE5E187C6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607" y="5139255"/>
            <a:ext cx="7318749" cy="105536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>
                <a:solidFill>
                  <a:schemeClr val="tx1"/>
                </a:solidFill>
              </a:rPr>
              <a:t>Уточнили реальные правила по материалам заказчика, отделили дорожную матрицу от солвера, проверили 47 гипотез и адаптировали интерфейс до 30 бригад и 300 заявок.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41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1AF2119E-43D8-37AF-C511-A59B0DD88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608" y="4571473"/>
            <a:ext cx="6438692" cy="62905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b="1">
                <a:solidFill>
                  <a:schemeClr val="accent5"/>
                </a:solidFill>
              </a:rPr>
              <a:t>Главные вызовы</a:t>
            </a:r>
          </a:p>
        </p:txBody>
      </p:sp>
      <p:sp>
        <p:nvSpPr>
          <p:cNvPr id="43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819ADE62-86A0-41CF-FEBE-6AC207E6A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607" y="3429000"/>
            <a:ext cx="4945565" cy="107852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>
                <a:solidFill>
                  <a:schemeClr val="tx1"/>
                </a:solidFill>
              </a:rPr>
              <a:t>Кейс соединяет измеримый операционный эффект, комбинаторную оптимизацию и наглядную live-демонстрацию результата.</a:t>
            </a:r>
          </a:p>
        </p:txBody>
      </p:sp>
      <p:sp>
        <p:nvSpPr>
          <p:cNvPr id="44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A0EBDB05-E223-F4C0-4AF4-743B80D71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607" y="2900091"/>
            <a:ext cx="5629858" cy="52890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b="1">
                <a:solidFill>
                  <a:schemeClr val="accent5"/>
                </a:solidFill>
              </a:rPr>
              <a:t>Почему выбрали задачу</a:t>
            </a:r>
          </a:p>
        </p:txBody>
      </p:sp>
      <p:sp>
        <p:nvSpPr>
          <p:cNvPr id="5" name="Прямая соединительная линия 4">
            <a:extLst xmlns:a="http://schemas.openxmlformats.org/drawingml/2006/main">
              <a:ext uri="{FF2B5EF4-FFF2-40B4-BE49-F238E27FC236}">
                <a16:creationId xmlns:a16="http://schemas.microsoft.com/office/drawing/2014/main" id="{D4A86141-3574-4642-A23D-55ECE57F9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8" y="2745691"/>
            <a:ext cx="1123315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Прямая соединительная линия 5">
            <a:extLst xmlns:a="http://schemas.openxmlformats.org/drawingml/2006/main">
              <a:ext uri="{FF2B5EF4-FFF2-40B4-BE49-F238E27FC236}">
                <a16:creationId xmlns:a16="http://schemas.microsoft.com/office/drawing/2014/main" id="{99BB4FC7-1ACD-4314-AF02-176AD18D8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8" y="4407066"/>
            <a:ext cx="1123315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8" name="Прямая соединительная линия 7">
            <a:extLst xmlns:a="http://schemas.openxmlformats.org/drawingml/2006/main">
              <a:ext uri="{FF2B5EF4-FFF2-40B4-BE49-F238E27FC236}">
                <a16:creationId xmlns:a16="http://schemas.microsoft.com/office/drawing/2014/main" id="{D187D367-0549-489A-88B8-496BC816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8" y="1110074"/>
            <a:ext cx="1123315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DE3DBF43-8386-18C6-2DBB-93FBC617A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5788" y="1279645"/>
            <a:ext cx="956838" cy="35393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r">
              <a:buNone/>
            </a:pPr>
            <a:r>
              <a:rPr b="1">
                <a:solidFill>
                  <a:schemeClr val="accent5"/>
                </a:solidFill>
              </a:rPr>
              <a:t>01</a:t>
            </a:r>
          </a:p>
        </p:txBody>
      </p:sp>
      <p:sp>
        <p:nvSpPr>
          <p:cNvPr id="11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1C998835-697E-638C-C9A8-992A3CFE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5788" y="2900091"/>
            <a:ext cx="930595" cy="52890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b="1">
                <a:solidFill>
                  <a:schemeClr val="accent5"/>
                </a:solidFill>
              </a:rPr>
              <a:t>02</a:t>
            </a:r>
          </a:p>
        </p:txBody>
      </p:sp>
      <p:sp>
        <p:nvSpPr>
          <p:cNvPr id="12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63CDAC47-57C1-8743-C534-E78438BF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5788" y="4571473"/>
            <a:ext cx="930596" cy="5677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b="1">
                <a:solidFill>
                  <a:schemeClr val="accent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</p:sld>
</file>

<file path=ppt/slides/slide1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4d18aa1220af41e0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Скругленный 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750912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 xmlns:a="http://schemas.openxmlformats.org/drawingml/2006/main"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774" y="1211284"/>
            <a:ext cx="5440313" cy="4989492"/>
          </a:xfrm>
          <a:prstGeom xmlns:a="http://schemas.openxmlformats.org/drawingml/2006/main" prst="roundRect">
            <a:avLst>
              <a:gd name="adj" fmla="val 3865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 xmlns:a="http://schemas.openxmlformats.org/drawingml/2006/main"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6" y="1211284"/>
            <a:ext cx="5440313" cy="4989492"/>
          </a:xfrm>
          <a:prstGeom xmlns:a="http://schemas.openxmlformats.org/drawingml/2006/main" prst="roundRect">
            <a:avLst>
              <a:gd name="adj" fmla="val 3407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CC5B9-D646-4B76-891F-6FF4E74E9CB4}" type="slidenum">
              <a:rPr>
                <a:solidFill>
                  <a:schemeClr val="bg1"/>
                </a:solidFill>
              </a:rPr>
              <a:t>11</a:t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xmlns:a="http://schemas.openxmlformats.org/drawingml/2006/main" noGrp="1"/>
          </p:cNvSpPr>
          <p:nvPr>
            <p:ph type="body" idx="38"/>
          </p:nvPr>
        </p:nvSpPr>
        <p:spPr>
          <a:xfrm xmlns:a="http://schemas.openxmlformats.org/drawingml/2006/main">
            <a:off x="589493" y="1920927"/>
            <a:ext cx="4929861" cy="3868581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00">
                <a:solidFill>
                  <a:srgbClr val="000000"/>
                </a:solidFill>
                <a:latin typeface="Montserrat"/>
                <a:ea typeface="Montserrat"/>
                <a:cs typeface="Montserrat"/>
              </a:defRPr>
            </a:pPr>
            <a:r>
              <a:rPr sz="140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plan-input / plan-output 1.0</a:t>
            </a:r>
          </a:p>
          <a:p xmlns:a="http://schemas.openxmlformats.org/drawingml/2006/main">
            <a:pPr>
              <a:buNone/>
              <a:defRPr sz="1400">
                <a:solidFill>
                  <a:srgbClr val="000000"/>
                </a:solidFill>
                <a:latin typeface="Montserrat"/>
                <a:ea typeface="Montserrat"/>
                <a:cs typeface="Montserrat"/>
              </a:defRPr>
            </a:pPr>
            <a:r>
              <a:rPr sz="140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OR-Tools Routing, open VRPTW</a:t>
            </a:r>
          </a:p>
          <a:p xmlns:a="http://schemas.openxmlformats.org/drawingml/2006/main">
            <a:pPr>
              <a:buNone/>
              <a:defRPr sz="1400">
                <a:solidFill>
                  <a:srgbClr val="000000"/>
                </a:solidFill>
                <a:latin typeface="Montserrat"/>
                <a:ea typeface="Montserrat"/>
                <a:cs typeface="Montserrat"/>
              </a:defRPr>
            </a:pPr>
            <a:r>
              <a:rPr sz="140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Greedy + local search как fallback</a:t>
            </a:r>
          </a:p>
          <a:p xmlns:a="http://schemas.openxmlformats.org/drawingml/2006/main">
            <a:pPr>
              <a:buNone/>
              <a:defRPr sz="1400">
                <a:solidFill>
                  <a:srgbClr val="000000"/>
                </a:solidFill>
                <a:latin typeface="Montserrat"/>
                <a:ea typeface="Montserrat"/>
                <a:cs typeface="Montserrat"/>
              </a:defRPr>
            </a:pPr>
            <a:r>
              <a:rPr sz="140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Навыки, транспорт, оборудование и окна</a:t>
            </a:r>
          </a:p>
          <a:p xmlns:a="http://schemas.openxmlformats.org/drawingml/2006/main">
            <a:pPr>
              <a:buNone/>
              <a:defRPr sz="1400">
                <a:solidFill>
                  <a:srgbClr val="000000"/>
                </a:solidFill>
                <a:latin typeface="Montserrat"/>
                <a:ea typeface="Montserrat"/>
                <a:cs typeface="Montserrat"/>
              </a:defRPr>
            </a:pPr>
            <a:r>
              <a:rPr sz="140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MapLibre + OSRM</a:t>
            </a:r>
          </a:p>
          <a:p xmlns:a="http://schemas.openxmlformats.org/drawingml/2006/main">
            <a:pPr>
              <a:buNone/>
              <a:defRPr sz="1400">
                <a:solidFill>
                  <a:srgbClr val="000000"/>
                </a:solidFill>
                <a:latin typeface="Montserrat"/>
                <a:ea typeface="Montserrat"/>
                <a:cs typeface="Montserrat"/>
              </a:defRPr>
            </a:pPr>
            <a:r>
              <a:rPr sz="140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Перепланирование и объяснение причин</a:t>
            </a:r>
          </a:p>
        </p:txBody>
      </p:sp>
      <p:sp>
        <p:nvSpPr>
          <p:cNvPr id="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xmlns:a="http://schemas.openxmlformats.org/drawingml/2006/main" noGrp="1"/>
          </p:cNvSpPr>
          <p:nvPr>
            <p:ph type="body" idx="42"/>
          </p:nvPr>
        </p:nvSpPr>
        <p:spPr>
          <a:xfrm xmlns:a="http://schemas.openxmlformats.org/drawingml/2006/main">
            <a:off x="6513513" y="1920927"/>
            <a:ext cx="4957144" cy="387644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00">
                <a:solidFill>
                  <a:srgbClr val="000000"/>
                </a:solidFill>
                <a:latin typeface="Montserrat"/>
                <a:ea typeface="Montserrat"/>
                <a:cs typeface="Montserrat"/>
              </a:defRPr>
            </a:pPr>
            <a:r>
              <a:rPr sz="140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Единое рабочее место диспетчера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000000"/>
                </a:solidFill>
                <a:latin typeface="Montserrat"/>
                <a:ea typeface="Montserrat"/>
                <a:cs typeface="Montserrat"/>
              </a:defRPr>
            </a:pPr>
            <a:r>
              <a:rPr sz="140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Меньше ручных конфликтов и повторной проверки</a:t>
            </a:r>
            <a:endParaRPr sz="1400">
              <a:solidFill>
                <a:schemeClr val="tx1"/>
              </a:solidFill>
            </a:endParaRPr>
          </a:p>
          <a:p xmlns:a="http://schemas.openxmlformats.org/drawingml/2006/main">
            <a:pPr marL="0" indent="0">
              <a:buNone/>
              <a:defRPr sz="1400">
                <a:solidFill>
                  <a:srgbClr val="000000"/>
                </a:solidFill>
                <a:latin typeface="Montserrat"/>
                <a:ea typeface="Montserrat"/>
                <a:cs typeface="Montserrat"/>
              </a:defRPr>
            </a:pPr>
            <a:r>
              <a:rPr sz="140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Метрики по инженерам и всему плану</a:t>
            </a:r>
            <a:endParaRPr sz="1400">
              <a:solidFill>
                <a:schemeClr val="tx1"/>
              </a:solidFill>
            </a:endParaRPr>
          </a:p>
          <a:p xmlns:a="http://schemas.openxmlformats.org/drawingml/2006/main">
            <a:pPr marL="0" indent="0">
              <a:buNone/>
              <a:defRPr sz="1400">
                <a:solidFill>
                  <a:srgbClr val="000000"/>
                </a:solidFill>
                <a:latin typeface="Montserrat"/>
                <a:ea typeface="Montserrat"/>
                <a:cs typeface="Montserrat"/>
              </a:defRPr>
            </a:pPr>
            <a:r>
              <a:rPr sz="140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Локальный дорожный контур без передачи рабочих данных в облако</a:t>
            </a:r>
            <a:endParaRPr sz="1400">
              <a:solidFill>
                <a:schemeClr val="tx1"/>
              </a:solidFill>
            </a:endParaRPr>
          </a:p>
          <a:p xmlns:a="http://schemas.openxmlformats.org/drawingml/2006/main">
            <a:pPr marL="0" indent="0">
              <a:buNone/>
              <a:defRPr sz="1400">
                <a:solidFill>
                  <a:srgbClr val="000000"/>
                </a:solidFill>
                <a:latin typeface="Montserrat"/>
                <a:ea typeface="Montserrat"/>
                <a:cs typeface="Montserrat"/>
              </a:defRPr>
            </a:pPr>
            <a:r>
              <a:rPr sz="140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Пилот по одной зоне и одной смене</a:t>
            </a:r>
            <a:endParaRPr sz="1400">
              <a:solidFill>
                <a:schemeClr val="tx1"/>
              </a:solidFill>
            </a:endParaRPr>
          </a:p>
          <a:p xmlns:a="http://schemas.openxmlformats.org/drawingml/2006/main">
            <a:pPr marL="0" indent="0">
              <a:buNone/>
              <a:defRPr sz="1400">
                <a:solidFill>
                  <a:srgbClr val="000000"/>
                </a:solidFill>
                <a:latin typeface="Montserrat"/>
                <a:ea typeface="Montserrat"/>
                <a:cs typeface="Montserrat"/>
              </a:defRPr>
            </a:pPr>
            <a:r>
              <a:rPr sz="140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Следующий шаг: реальный holdout и интеграция</a:t>
            </a:r>
            <a:endParaRPr sz="1400"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5817" y="456851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КОРОТКО О РЕШЕНИИ</a:t>
            </a:r>
          </a:p>
        </p:txBody>
      </p:sp>
      <p:sp>
        <p:nvSpPr>
          <p:cNvPr id="15" name="Текст 14">
            <a:extLst xmlns:a="http://schemas.openxmlformats.org/drawingml/2006/main"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xmlns:a="http://schemas.openxmlformats.org/drawingml/2006/main" noGrp="1"/>
          </p:cNvSpPr>
          <p:nvPr>
            <p:ph type="body" idx="49"/>
          </p:nvPr>
        </p:nvSpPr>
        <p:spPr>
          <a:xfrm xmlns:a="http://schemas.openxmlformats.org/drawingml/2006/main">
            <a:off x="578063" y="1476583"/>
            <a:ext cx="4929861" cy="55514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000" b="1">
                <a:solidFill>
                  <a:schemeClr val="accent5"/>
                </a:solidFill>
              </a:rPr>
              <a:t>Техническая суть решения</a:t>
            </a:r>
          </a:p>
        </p:txBody>
      </p:sp>
      <p:sp>
        <p:nvSpPr>
          <p:cNvPr id="17" name="Текст 16">
            <a:extLst xmlns:a="http://schemas.openxmlformats.org/drawingml/2006/main"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xmlns:a="http://schemas.openxmlformats.org/drawingml/2006/main" noGrp="1"/>
          </p:cNvSpPr>
          <p:nvPr>
            <p:ph type="body" idx="51"/>
          </p:nvPr>
        </p:nvSpPr>
        <p:spPr>
          <a:xfrm xmlns:a="http://schemas.openxmlformats.org/drawingml/2006/main">
            <a:off x="6513513" y="1476583"/>
            <a:ext cx="5214724" cy="56151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000" b="1">
                <a:solidFill>
                  <a:schemeClr val="accent5"/>
                </a:solidFill>
              </a:rPr>
              <a:t>Польза и внедрение</a:t>
            </a:r>
          </a:p>
        </p:txBody>
      </p:sp>
    </p:spTree>
    <p:extLst>
      <p:ext uri="{BB962C8B-B14F-4D97-AF65-F5344CB8AC3E}">
        <p14:creationId xmlns:p14="http://schemas.microsoft.com/office/powerpoint/2010/main" val="399877645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059068790a426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C013EC-C18D-4572-80CC-41EF4E74D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457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2700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Маршрут построен!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2ABA68-79C4-4901-BEB7-D5AEEF487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57500"/>
            <a:ext cx="9144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48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48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СПАСИБО ЗА ВНИМАНИЕ!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9037C0-8805-4AB3-AD6B-428011BED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14850"/>
            <a:ext cx="6381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00" b="1">
                <a:solidFill>
                  <a:srgbClr val="F2F2F2"/>
                </a:solidFill>
                <a:latin typeface="Montserrat"/>
                <a:ea typeface="Montserrat"/>
                <a:cs typeface="Montserrat"/>
              </a:defRPr>
            </a:pPr>
            <a:r>
              <a:rPr sz="2800" b="1">
                <a:solidFill>
                  <a:srgbClr val="F2F2F2"/>
                </a:solidFill>
                <a:latin typeface="Montserrat"/>
                <a:ea typeface="Montserrat"/>
                <a:cs typeface="Montserrat"/>
              </a:rP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3C3045-D73C-4025-B311-037ACD53D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53125"/>
            <a:ext cx="876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F2F2F2"/>
                </a:solidFill>
                <a:latin typeface="Montserrat"/>
                <a:ea typeface="Montserrat"/>
                <a:cs typeface="Montserrat"/>
              </a:defRPr>
            </a:pPr>
            <a:r>
              <a:rPr sz="1800">
                <a:solidFill>
                  <a:srgbClr val="F2F2F2"/>
                </a:solidFill>
                <a:latin typeface="Montserrat"/>
                <a:ea typeface="Montserrat"/>
                <a:cs typeface="Montserrat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222038219"/>
      </p:ext>
    </p:extLst>
  </p:cSld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Пользовательские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2026-09-28T21:28:02.8680000Z</dcterms:created>
  <dcterms:modified xsi:type="dcterms:W3CDTF">2026-09-28T21:28:02.8680000Z</dcterms:modified>
</coreProperties>
</file>